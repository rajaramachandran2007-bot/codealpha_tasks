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2" r:id="rId5"/>
    <p:sldId id="265" r:id="rId6"/>
    <p:sldId id="263" r:id="rId7"/>
    <p:sldId id="258" r:id="rId8"/>
    <p:sldId id="259" r:id="rId9"/>
    <p:sldId id="260" r:id="rId10"/>
    <p:sldId id="261"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68C27-7E52-414F-8614-E177D11E39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4D0FB2-488B-979D-39B2-001064E931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97A3AC-8897-A4FD-5B47-9874E65D1565}"/>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5" name="Footer Placeholder 4">
            <a:extLst>
              <a:ext uri="{FF2B5EF4-FFF2-40B4-BE49-F238E27FC236}">
                <a16:creationId xmlns:a16="http://schemas.microsoft.com/office/drawing/2014/main" id="{FC9B9DD8-E57D-89B3-E2CA-7A67B16AD1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781979-9F7F-4331-2423-CE9D695A5E7F}"/>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2414083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6A898-5A73-7F46-F0FB-BCFE2A683E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B7C1DB-B913-9CAE-590B-CC93C449DA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D11949-27C6-DFA8-B55F-7CA88FE1B578}"/>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5" name="Footer Placeholder 4">
            <a:extLst>
              <a:ext uri="{FF2B5EF4-FFF2-40B4-BE49-F238E27FC236}">
                <a16:creationId xmlns:a16="http://schemas.microsoft.com/office/drawing/2014/main" id="{8B37B7DF-9588-C7ED-03BB-2B5C53E02D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DB2537-8688-70B3-6CA6-B68572D4555D}"/>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3116257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1E32B-B5D8-B6EB-D09F-C255ACB9B4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D0F006-5A40-CD92-0E01-F97C41EC21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9AED5A-58DA-611C-C6A4-BA0ADB68F2FC}"/>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5" name="Footer Placeholder 4">
            <a:extLst>
              <a:ext uri="{FF2B5EF4-FFF2-40B4-BE49-F238E27FC236}">
                <a16:creationId xmlns:a16="http://schemas.microsoft.com/office/drawing/2014/main" id="{BBD2F9A2-5501-D9F9-DC01-60216B5BF7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E5B0F5-78E8-B16F-3FCF-92ACC00EF2E0}"/>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2152329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A2B3B-AF39-BC64-2F9F-A9DC4492D8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5B738F-38E4-65E1-6F08-6C87DEAFCC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15CE6E-53C1-A01A-5767-0C58A425BC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B9E05E-78D8-7087-8283-1DD9B15B81D8}"/>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6" name="Footer Placeholder 5">
            <a:extLst>
              <a:ext uri="{FF2B5EF4-FFF2-40B4-BE49-F238E27FC236}">
                <a16:creationId xmlns:a16="http://schemas.microsoft.com/office/drawing/2014/main" id="{E0624C6C-C2EE-0408-806F-61D0AC0089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3FBE36-867E-5D36-B8EC-E9BB6E57E9D5}"/>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56775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2874-9BF9-FE46-D9DF-B23CD5D9B1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6EBDC9-07FC-66ED-038D-46BE38C4C4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AB2236-F3E8-5107-BF3A-0BA134C370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F76946E-95E8-EC39-840D-4BAA4915DC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6791EC-E277-4BFC-385A-972AD825AA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D9BF4A-12F7-FF92-9D27-C73AEA607665}"/>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8" name="Footer Placeholder 7">
            <a:extLst>
              <a:ext uri="{FF2B5EF4-FFF2-40B4-BE49-F238E27FC236}">
                <a16:creationId xmlns:a16="http://schemas.microsoft.com/office/drawing/2014/main" id="{C6F313D8-B08E-8428-908A-79E1DE7099C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23F9696-B195-9ABF-C5C8-0ADF1D56D8FA}"/>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397764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456BA-03C3-0C7E-6FC4-FC14B70F70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2FFFE6-EDF4-77A9-F55C-35A25D3FE952}"/>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4" name="Footer Placeholder 3">
            <a:extLst>
              <a:ext uri="{FF2B5EF4-FFF2-40B4-BE49-F238E27FC236}">
                <a16:creationId xmlns:a16="http://schemas.microsoft.com/office/drawing/2014/main" id="{4C1D71E3-F78E-EAEF-E4DE-D2ED75A3AE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2A3343-B731-A216-DF62-0C8D73A87DAD}"/>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1953967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C0FD88-94B1-B854-B1E4-0CB4B2D6C758}"/>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3" name="Footer Placeholder 2">
            <a:extLst>
              <a:ext uri="{FF2B5EF4-FFF2-40B4-BE49-F238E27FC236}">
                <a16:creationId xmlns:a16="http://schemas.microsoft.com/office/drawing/2014/main" id="{E0E101C7-ECA2-788D-B39B-9F0CDF0C84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E21DAA-B85A-BB78-EB9D-B2E407410759}"/>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1516353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ED134-256F-1C3C-1C85-C213E6049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BD3C31-E096-E8DF-9635-636674DD3D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B687A0-B375-4B70-2AC6-568674A6E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A2CDB7-E561-CCB2-80C4-97C7F9BAC6A1}"/>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6" name="Footer Placeholder 5">
            <a:extLst>
              <a:ext uri="{FF2B5EF4-FFF2-40B4-BE49-F238E27FC236}">
                <a16:creationId xmlns:a16="http://schemas.microsoft.com/office/drawing/2014/main" id="{66BF0373-6285-2BD4-C88D-42362ACD79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C67CCB-060A-58AD-3DA9-1B801738887C}"/>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152394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BFAB1-2AA1-7A74-45E8-AC85AF115A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79C6A4-E3D2-C54F-6283-E76DB93DF0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E041AB8-0A1B-3F85-40EF-8E9295F707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7869FF-9B55-2BDA-578A-DE23445ADE54}"/>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6" name="Footer Placeholder 5">
            <a:extLst>
              <a:ext uri="{FF2B5EF4-FFF2-40B4-BE49-F238E27FC236}">
                <a16:creationId xmlns:a16="http://schemas.microsoft.com/office/drawing/2014/main" id="{606867D3-F672-F536-7827-B79D69B983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20C01E-D4F7-0E76-D207-7F9AF55B5E33}"/>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2854900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B2757-A6D1-F328-7F4A-47FAB22346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18B2D0-490C-0134-0035-4EAA6CF62D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5B061C-D697-4A3D-0295-AFA3411725DF}"/>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5" name="Footer Placeholder 4">
            <a:extLst>
              <a:ext uri="{FF2B5EF4-FFF2-40B4-BE49-F238E27FC236}">
                <a16:creationId xmlns:a16="http://schemas.microsoft.com/office/drawing/2014/main" id="{A17E9742-C942-EE7F-9067-CF1BCB2C25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EA6493-AFAF-1120-16AF-041B81E1CF1F}"/>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3594048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E58F79-3472-91F3-971A-0CBC450042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A055E0-F906-D9D4-7F53-6891CE6B83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65B085-8585-18FA-7CE7-335621A60059}"/>
              </a:ext>
            </a:extLst>
          </p:cNvPr>
          <p:cNvSpPr>
            <a:spLocks noGrp="1"/>
          </p:cNvSpPr>
          <p:nvPr>
            <p:ph type="dt" sz="half" idx="10"/>
          </p:nvPr>
        </p:nvSpPr>
        <p:spPr/>
        <p:txBody>
          <a:bodyPr/>
          <a:lstStyle/>
          <a:p>
            <a:fld id="{53A665D0-2C29-4790-BD33-2577842F4775}" type="datetimeFigureOut">
              <a:rPr lang="en-IN" smtClean="0"/>
              <a:t>12-07-2026</a:t>
            </a:fld>
            <a:endParaRPr lang="en-IN"/>
          </a:p>
        </p:txBody>
      </p:sp>
      <p:sp>
        <p:nvSpPr>
          <p:cNvPr id="5" name="Footer Placeholder 4">
            <a:extLst>
              <a:ext uri="{FF2B5EF4-FFF2-40B4-BE49-F238E27FC236}">
                <a16:creationId xmlns:a16="http://schemas.microsoft.com/office/drawing/2014/main" id="{009964BB-0E2D-8AC5-C68B-26D44BCB76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BFBD8-B25A-07AC-2CF9-7D1ABFD88816}"/>
              </a:ext>
            </a:extLst>
          </p:cNvPr>
          <p:cNvSpPr>
            <a:spLocks noGrp="1"/>
          </p:cNvSpPr>
          <p:nvPr>
            <p:ph type="sldNum" sz="quarter" idx="12"/>
          </p:nvPr>
        </p:nvSpPr>
        <p:spPr/>
        <p:txBody>
          <a:bodyPr/>
          <a:lstStyle/>
          <a:p>
            <a:fld id="{6A8E104E-2580-45B5-B344-1A5E167CB805}" type="slidenum">
              <a:rPr lang="en-IN" smtClean="0"/>
              <a:t>‹#›</a:t>
            </a:fld>
            <a:endParaRPr lang="en-IN"/>
          </a:p>
        </p:txBody>
      </p:sp>
    </p:spTree>
    <p:extLst>
      <p:ext uri="{BB962C8B-B14F-4D97-AF65-F5344CB8AC3E}">
        <p14:creationId xmlns:p14="http://schemas.microsoft.com/office/powerpoint/2010/main" val="2205747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135B8A-B317-9644-8556-B559312803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A9AEAA-A33F-0D24-9F1C-CA6B5AD60C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BDDB94-BBC8-112B-7A03-07152E79C7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A665D0-2C29-4790-BD33-2577842F4775}" type="datetimeFigureOut">
              <a:rPr lang="en-IN" smtClean="0"/>
              <a:t>12-07-2026</a:t>
            </a:fld>
            <a:endParaRPr lang="en-IN"/>
          </a:p>
        </p:txBody>
      </p:sp>
      <p:sp>
        <p:nvSpPr>
          <p:cNvPr id="5" name="Footer Placeholder 4">
            <a:extLst>
              <a:ext uri="{FF2B5EF4-FFF2-40B4-BE49-F238E27FC236}">
                <a16:creationId xmlns:a16="http://schemas.microsoft.com/office/drawing/2014/main" id="{759F8738-3BB7-AAE5-FB38-788BF0E0F9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53F6D15-5642-4562-11E1-540784EF3C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8E104E-2580-45B5-B344-1A5E167CB805}" type="slidenum">
              <a:rPr lang="en-IN" smtClean="0"/>
              <a:t>‹#›</a:t>
            </a:fld>
            <a:endParaRPr lang="en-IN"/>
          </a:p>
        </p:txBody>
      </p:sp>
    </p:spTree>
    <p:extLst>
      <p:ext uri="{BB962C8B-B14F-4D97-AF65-F5344CB8AC3E}">
        <p14:creationId xmlns:p14="http://schemas.microsoft.com/office/powerpoint/2010/main" val="2099165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8" Type="http://schemas.openxmlformats.org/officeDocument/2006/relationships/hyperlink" Target="https://www.healthcareradius.in/features/business/27015-biocon-biologics-receives-inr-1125-crore-capital-injection-from-goldman-sachs" TargetMode="External" /><Relationship Id="rId3" Type="http://schemas.openxmlformats.org/officeDocument/2006/relationships/hyperlink" Target="https://www.biocon.com/" TargetMode="External" /><Relationship Id="rId7" Type="http://schemas.openxmlformats.org/officeDocument/2006/relationships/hyperlink" Target="https://www.biocon.com/legacy-biocon/" TargetMode="External" /><Relationship Id="rId2" Type="http://schemas.openxmlformats.org/officeDocument/2006/relationships/hyperlink" Target="https://www.biocon.com/about-us/our-key-priorities/" TargetMode="External" /><Relationship Id="rId1" Type="http://schemas.openxmlformats.org/officeDocument/2006/relationships/slideLayout" Target="../slideLayouts/slideLayout7.xml" /><Relationship Id="rId6" Type="http://schemas.openxmlformats.org/officeDocument/2006/relationships/hyperlink" Target="https://www.biocon.com/businesses/novel-biologics/" TargetMode="External" /><Relationship Id="rId5" Type="http://schemas.openxmlformats.org/officeDocument/2006/relationships/hyperlink" Target="https://www.bioconbiologics.com/research-saves-lives/" TargetMode="External" /><Relationship Id="rId10" Type="http://schemas.openxmlformats.org/officeDocument/2006/relationships/hyperlink" Target="https://www.biocon.com/biocon-pharma-partners-with-libbs-farmaceutica-to-launch-generic-formulations-in-brazil/" TargetMode="External" /><Relationship Id="rId4" Type="http://schemas.openxmlformats.org/officeDocument/2006/relationships/hyperlink" Target="https://www.biocon.com/docs/Biocon_Long_Profile_Oct_2016.pdf" TargetMode="External" /><Relationship Id="rId9" Type="http://schemas.openxmlformats.org/officeDocument/2006/relationships/hyperlink" Target="https://www.biocon.com/about-us/our-legacy/" TargetMode="External" /></Relationships>
</file>

<file path=ppt/slides/_rels/slide3.xml.rels><?xml version="1.0" encoding="UTF-8" standalone="yes"?>
<Relationships xmlns="http://schemas.openxmlformats.org/package/2006/relationships"><Relationship Id="rId3" Type="http://schemas.openxmlformats.org/officeDocument/2006/relationships/hyperlink" Target="https://www.biocon.com/businesses/novel-biologics/" TargetMode="External"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hyperlink" Target="https://www.biocon.com/docs/Biocon_Profile_2015_0915.pdf" TargetMode="External" /><Relationship Id="rId2" Type="http://schemas.openxmlformats.org/officeDocument/2006/relationships/slideLayout" Target="../slideLayouts/slideLayout7.xml" /><Relationship Id="rId1" Type="http://schemas.openxmlformats.org/officeDocument/2006/relationships/themeOverride" Target="../theme/themeOverride1.xml" /></Relationships>
</file>

<file path=ppt/slides/_rels/slide5.xml.rels><?xml version="1.0" encoding="UTF-8" standalone="yes"?>
<Relationships xmlns="http://schemas.openxmlformats.org/package/2006/relationships"><Relationship Id="rId8" Type="http://schemas.openxmlformats.org/officeDocument/2006/relationships/hyperlink" Target="https://www.biocon.com/products/" TargetMode="External" /><Relationship Id="rId3" Type="http://schemas.openxmlformats.org/officeDocument/2006/relationships/hyperlink" Target="https://www.femexer.org/39500/adagio-se-asocia-con-biocon-para-brindar-tratamiento-con-anticuerpos-covid-19-a-pacientes-en-india-y-mercados-emergentes-seleccionados/" TargetMode="External" /><Relationship Id="rId7" Type="http://schemas.openxmlformats.org/officeDocument/2006/relationships/hyperlink" Target="https://www.biocon.com/products/key-therapeutic-areas/cancer/" TargetMode="External" /><Relationship Id="rId2" Type="http://schemas.openxmlformats.org/officeDocument/2006/relationships/image" Target="../media/image2.jpeg" /><Relationship Id="rId1" Type="http://schemas.openxmlformats.org/officeDocument/2006/relationships/slideLayout" Target="../slideLayouts/slideLayout1.xml" /><Relationship Id="rId6" Type="http://schemas.openxmlformats.org/officeDocument/2006/relationships/hyperlink" Target="https://www.biocon.com/businesses/generics/api-portfolio/" TargetMode="External" /><Relationship Id="rId11" Type="http://schemas.openxmlformats.org/officeDocument/2006/relationships/hyperlink" Target="https://pxhere.com/en/photo/1537787" TargetMode="External" /><Relationship Id="rId5" Type="http://schemas.openxmlformats.org/officeDocument/2006/relationships/hyperlink" Target="https://www.biocon.com/businesses/generics/overview-manufacturing-operations/" TargetMode="External" /><Relationship Id="rId10" Type="http://schemas.openxmlformats.org/officeDocument/2006/relationships/image" Target="../media/image3.jpeg" /><Relationship Id="rId4" Type="http://schemas.openxmlformats.org/officeDocument/2006/relationships/hyperlink" Target="https://www.biocon.com/products/generics/" TargetMode="External" /><Relationship Id="rId9" Type="http://schemas.openxmlformats.org/officeDocument/2006/relationships/hyperlink" Target="https://www.bioconbiologics.com/products/" TargetMode="Externa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8" Type="http://schemas.openxmlformats.org/officeDocument/2006/relationships/hyperlink" Target="https://www.youtube.com/watch?v=3WEpxdzI4ys&amp;t=400" TargetMode="External" /><Relationship Id="rId3" Type="http://schemas.openxmlformats.org/officeDocument/2006/relationships/hyperlink" Target="https://www.biocon.com/biocon-q3fy26-revenue/" TargetMode="External" /><Relationship Id="rId7" Type="http://schemas.openxmlformats.org/officeDocument/2006/relationships/hyperlink" Target="https://www.biocon.com/biocon-q4fy26-revenue/" TargetMode="External" /><Relationship Id="rId2" Type="http://schemas.openxmlformats.org/officeDocument/2006/relationships/hyperlink" Target="https://www.bioconbiologics.com/" TargetMode="External" /><Relationship Id="rId1" Type="http://schemas.openxmlformats.org/officeDocument/2006/relationships/slideLayout" Target="../slideLayouts/slideLayout7.xml" /><Relationship Id="rId6" Type="http://schemas.openxmlformats.org/officeDocument/2006/relationships/hyperlink" Target="https://www.biocon.com/" TargetMode="External" /><Relationship Id="rId5" Type="http://schemas.openxmlformats.org/officeDocument/2006/relationships/hyperlink" Target="https://sg.finance.yahoo.com/news/biocon-announces-publication-pivotal-clinical-113500484.html" TargetMode="External" /><Relationship Id="rId4" Type="http://schemas.openxmlformats.org/officeDocument/2006/relationships/hyperlink" Target="https://www.youtube.com/shorts/9tD5TS_KgSM" TargetMode="External" /></Relationships>
</file>

<file path=ppt/slides/_rels/slide8.xml.rels><?xml version="1.0" encoding="UTF-8" standalone="yes"?>
<Relationships xmlns="http://schemas.openxmlformats.org/package/2006/relationships"><Relationship Id="rId3" Type="http://schemas.openxmlformats.org/officeDocument/2006/relationships/hyperlink" Target="https://flatworldknowledge.lardbucket.org/books/modern-management-of-small-businesses/s19-03-key-management-decisions-and-c.html" TargetMode="External" /><Relationship Id="rId2" Type="http://schemas.openxmlformats.org/officeDocument/2006/relationships/image" Target="../media/image4.jpeg" /><Relationship Id="rId1" Type="http://schemas.openxmlformats.org/officeDocument/2006/relationships/slideLayout" Target="../slideLayouts/slideLayout7.xml" /><Relationship Id="rId5" Type="http://schemas.openxmlformats.org/officeDocument/2006/relationships/hyperlink" Target="https://www.economicsobservatory.com/data-vaccine-and-stock-market" TargetMode="External" /><Relationship Id="rId4" Type="http://schemas.openxmlformats.org/officeDocument/2006/relationships/image" Target="../media/image5.jpeg" /></Relationships>
</file>

<file path=ppt/slides/_rels/slide9.xml.rels><?xml version="1.0" encoding="UTF-8" standalone="yes"?>
<Relationships xmlns="http://schemas.openxmlformats.org/package/2006/relationships"><Relationship Id="rId8" Type="http://schemas.openxmlformats.org/officeDocument/2006/relationships/hyperlink" Target="https://ecancer.org/en/news/4862-regulatory-approval-for-biosimilar-trastuzumab-for-treating-breast-cancer" TargetMode="External" /><Relationship Id="rId13" Type="http://schemas.openxmlformats.org/officeDocument/2006/relationships/hyperlink" Target="https://www.biocon.com/businesses/novel-biologics/itolizumab/" TargetMode="External" /><Relationship Id="rId18" Type="http://schemas.openxmlformats.org/officeDocument/2006/relationships/hyperlink" Target="https://www.biocon.com/docs/Biocon_IR_PPT_Feb_2019.pdf" TargetMode="External" /><Relationship Id="rId3" Type="http://schemas.openxmlformats.org/officeDocument/2006/relationships/hyperlink" Target="https://www.biocon.com/legacy-biocon/" TargetMode="External" /><Relationship Id="rId7" Type="http://schemas.openxmlformats.org/officeDocument/2006/relationships/hyperlink" Target="https://www.biocon.com/docs/Bevacizumab_IndiaLaunch_PR.pdf" TargetMode="External" /><Relationship Id="rId12" Type="http://schemas.openxmlformats.org/officeDocument/2006/relationships/hyperlink" Target="https://www.biocon.com/biocon-q2fy25-revenue/" TargetMode="External" /><Relationship Id="rId17" Type="http://schemas.openxmlformats.org/officeDocument/2006/relationships/hyperlink" Target="https://archive.biocon.com/biocon_manufacture_micro.asp" TargetMode="External" /><Relationship Id="rId2" Type="http://schemas.openxmlformats.org/officeDocument/2006/relationships/hyperlink" Target="https://www.biocon.com/businesses/biosimilars/global-scale-manufacturing/" TargetMode="External" /><Relationship Id="rId16" Type="http://schemas.openxmlformats.org/officeDocument/2006/relationships/hyperlink" Target="https://www.pharmaindustrial-india.com/articles-interviews-online-watch/a-journey-of-grit-and-innovation" TargetMode="External" /><Relationship Id="rId1" Type="http://schemas.openxmlformats.org/officeDocument/2006/relationships/slideLayout" Target="../slideLayouts/slideLayout7.xml" /><Relationship Id="rId6" Type="http://schemas.openxmlformats.org/officeDocument/2006/relationships/hyperlink" Target="https://www.angelone.in/stocks/biocon-ltd" TargetMode="External" /><Relationship Id="rId11" Type="http://schemas.openxmlformats.org/officeDocument/2006/relationships/hyperlink" Target="https://www.biocon.com/biocon-ranked-among-top-10-global-pharma-biotech-employers/" TargetMode="External" /><Relationship Id="rId5" Type="http://schemas.openxmlformats.org/officeDocument/2006/relationships/hyperlink" Target="https://bioconblog.com/2018/09/06/biocons-insulin-glargine-journey-crossing-a-key-milestone-with-ec-approval/" TargetMode="External" /><Relationship Id="rId15" Type="http://schemas.openxmlformats.org/officeDocument/2006/relationships/hyperlink" Target="https://www.wipo.int/en/web/ip-advantage/w/stories/building-on-a-foundation-of-ip" TargetMode="External" /><Relationship Id="rId10" Type="http://schemas.openxmlformats.org/officeDocument/2006/relationships/hyperlink" Target="https://www.biocon.com/research-saves-lives/" TargetMode="External" /><Relationship Id="rId4" Type="http://schemas.openxmlformats.org/officeDocument/2006/relationships/hyperlink" Target="https://www.bioconbiologics.com/our-stories/biocon-biologics-opens-north-america-headquarters-in-new-jerseys-biopharma-corridor/" TargetMode="External" /><Relationship Id="rId9" Type="http://schemas.openxmlformats.org/officeDocument/2006/relationships/hyperlink" Target="https://www.gabionline.net/pharma-news/Biocon-partners-with-Libbs-for-the-sale-of-generics-in-Brazil" TargetMode="External" /><Relationship Id="rId14" Type="http://schemas.openxmlformats.org/officeDocument/2006/relationships/hyperlink" Target="https://www.biocon.com/docs/PR_Alzumab_10Aug2013.pdf" TargetMode="External" /></Relationships>
</file>

<file path=ppt/slides/_rels/slide10.xml.rels><?xml version="1.0" encoding="UTF-8" standalone="yes"?>
<Relationships xmlns="http://schemas.openxmlformats.org/package/2006/relationships"><Relationship Id="rId2" Type="http://schemas.openxmlformats.org/officeDocument/2006/relationships/hyperlink" Target="https://www.vedantu.com/question-answer/describe-briefly-the-downstream-processing-class-12-biology-cbse-5f910902c3ecac2533377661" TargetMode="External"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3" Type="http://schemas.openxmlformats.org/officeDocument/2006/relationships/hyperlink" Target="https://pixabay.com/fr/illustrations/merci-note-merci-noter-message-1428147/" TargetMode="External" /><Relationship Id="rId2" Type="http://schemas.openxmlformats.org/officeDocument/2006/relationships/image" Target="../media/image6.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6E9015-CC9A-ADE0-5F64-7028F2FE5FA4}"/>
              </a:ext>
            </a:extLst>
          </p:cNvPr>
          <p:cNvSpPr txBox="1"/>
          <p:nvPr/>
        </p:nvSpPr>
        <p:spPr>
          <a:xfrm>
            <a:off x="1530626" y="2143299"/>
            <a:ext cx="1431235" cy="523220"/>
          </a:xfrm>
          <a:prstGeom prst="rect">
            <a:avLst/>
          </a:prstGeom>
          <a:noFill/>
        </p:spPr>
        <p:txBody>
          <a:bodyPr wrap="square" rtlCol="0">
            <a:spAutoFit/>
          </a:bodyPr>
          <a:lstStyle/>
          <a:p>
            <a:r>
              <a:rPr lang="en-US" sz="2800">
                <a:solidFill>
                  <a:srgbClr val="FF0000"/>
                </a:solidFill>
              </a:rPr>
              <a:t>NAME</a:t>
            </a:r>
            <a:r>
              <a:rPr lang="en-US" sz="2800"/>
              <a:t> </a:t>
            </a:r>
            <a:r>
              <a:rPr lang="en-US" sz="2800">
                <a:solidFill>
                  <a:srgbClr val="FF0000"/>
                </a:solidFill>
              </a:rPr>
              <a:t>:</a:t>
            </a:r>
            <a:endParaRPr lang="en-IN" sz="2800">
              <a:solidFill>
                <a:srgbClr val="FF0000"/>
              </a:solidFill>
            </a:endParaRPr>
          </a:p>
        </p:txBody>
      </p:sp>
      <p:sp>
        <p:nvSpPr>
          <p:cNvPr id="9" name="TextBox 8">
            <a:extLst>
              <a:ext uri="{FF2B5EF4-FFF2-40B4-BE49-F238E27FC236}">
                <a16:creationId xmlns:a16="http://schemas.microsoft.com/office/drawing/2014/main" id="{F8E5105C-17E0-40B8-039B-925AFF103A20}"/>
              </a:ext>
            </a:extLst>
          </p:cNvPr>
          <p:cNvSpPr txBox="1"/>
          <p:nvPr/>
        </p:nvSpPr>
        <p:spPr>
          <a:xfrm>
            <a:off x="2812774" y="2143299"/>
            <a:ext cx="1271951" cy="523220"/>
          </a:xfrm>
          <a:prstGeom prst="rect">
            <a:avLst/>
          </a:prstGeom>
          <a:noFill/>
        </p:spPr>
        <p:txBody>
          <a:bodyPr wrap="none" rtlCol="0">
            <a:spAutoFit/>
          </a:bodyPr>
          <a:lstStyle/>
          <a:p>
            <a:r>
              <a:rPr lang="en-US" sz="2800">
                <a:solidFill>
                  <a:schemeClr val="tx2">
                    <a:lumMod val="50000"/>
                    <a:lumOff val="50000"/>
                  </a:schemeClr>
                </a:solidFill>
              </a:rPr>
              <a:t>RAJA</a:t>
            </a:r>
            <a:r>
              <a:rPr lang="en-US" sz="2800"/>
              <a:t>.</a:t>
            </a:r>
            <a:r>
              <a:rPr lang="en-US" sz="2800">
                <a:solidFill>
                  <a:schemeClr val="tx2">
                    <a:lumMod val="50000"/>
                    <a:lumOff val="50000"/>
                  </a:schemeClr>
                </a:solidFill>
              </a:rPr>
              <a:t>R</a:t>
            </a:r>
            <a:endParaRPr lang="en-IN" sz="2800">
              <a:solidFill>
                <a:schemeClr val="tx2">
                  <a:lumMod val="50000"/>
                  <a:lumOff val="50000"/>
                </a:schemeClr>
              </a:solidFill>
            </a:endParaRPr>
          </a:p>
        </p:txBody>
      </p:sp>
      <p:sp>
        <p:nvSpPr>
          <p:cNvPr id="10" name="TextBox 9">
            <a:extLst>
              <a:ext uri="{FF2B5EF4-FFF2-40B4-BE49-F238E27FC236}">
                <a16:creationId xmlns:a16="http://schemas.microsoft.com/office/drawing/2014/main" id="{0D2D2C6C-AD63-48B3-DBD7-CEFC47351F4A}"/>
              </a:ext>
            </a:extLst>
          </p:cNvPr>
          <p:cNvSpPr txBox="1"/>
          <p:nvPr/>
        </p:nvSpPr>
        <p:spPr>
          <a:xfrm>
            <a:off x="1113183" y="2842591"/>
            <a:ext cx="4219564" cy="523220"/>
          </a:xfrm>
          <a:prstGeom prst="rect">
            <a:avLst/>
          </a:prstGeom>
          <a:noFill/>
        </p:spPr>
        <p:txBody>
          <a:bodyPr wrap="square" rtlCol="0">
            <a:spAutoFit/>
          </a:bodyPr>
          <a:lstStyle/>
          <a:p>
            <a:endParaRPr lang="en-IN" sz="2800"/>
          </a:p>
        </p:txBody>
      </p:sp>
      <p:sp>
        <p:nvSpPr>
          <p:cNvPr id="12" name="TextBox 11">
            <a:extLst>
              <a:ext uri="{FF2B5EF4-FFF2-40B4-BE49-F238E27FC236}">
                <a16:creationId xmlns:a16="http://schemas.microsoft.com/office/drawing/2014/main" id="{1E6092C3-5BFD-537F-93BE-6BC4F060072E}"/>
              </a:ext>
            </a:extLst>
          </p:cNvPr>
          <p:cNvSpPr txBox="1"/>
          <p:nvPr/>
        </p:nvSpPr>
        <p:spPr>
          <a:xfrm>
            <a:off x="1739347" y="3279025"/>
            <a:ext cx="1326838" cy="523220"/>
          </a:xfrm>
          <a:prstGeom prst="rect">
            <a:avLst/>
          </a:prstGeom>
          <a:noFill/>
        </p:spPr>
        <p:txBody>
          <a:bodyPr wrap="none" rtlCol="0">
            <a:spAutoFit/>
          </a:bodyPr>
          <a:lstStyle/>
          <a:p>
            <a:r>
              <a:rPr lang="en-US" sz="2800">
                <a:solidFill>
                  <a:srgbClr val="FF0000"/>
                </a:solidFill>
              </a:rPr>
              <a:t>TASK</a:t>
            </a:r>
            <a:r>
              <a:rPr lang="en-US" sz="2800"/>
              <a:t>: </a:t>
            </a:r>
            <a:r>
              <a:rPr lang="en-US" sz="2800">
                <a:solidFill>
                  <a:schemeClr val="tx2">
                    <a:lumMod val="50000"/>
                    <a:lumOff val="50000"/>
                  </a:schemeClr>
                </a:solidFill>
              </a:rPr>
              <a:t>2</a:t>
            </a:r>
            <a:endParaRPr lang="en-IN" sz="2800">
              <a:solidFill>
                <a:schemeClr val="tx2">
                  <a:lumMod val="50000"/>
                  <a:lumOff val="50000"/>
                </a:schemeClr>
              </a:solidFill>
            </a:endParaRPr>
          </a:p>
        </p:txBody>
      </p:sp>
      <p:sp>
        <p:nvSpPr>
          <p:cNvPr id="13" name="TextBox 12">
            <a:extLst>
              <a:ext uri="{FF2B5EF4-FFF2-40B4-BE49-F238E27FC236}">
                <a16:creationId xmlns:a16="http://schemas.microsoft.com/office/drawing/2014/main" id="{B6E55E30-1738-FEFD-4D8B-C7FF0EA62593}"/>
              </a:ext>
            </a:extLst>
          </p:cNvPr>
          <p:cNvSpPr txBox="1"/>
          <p:nvPr/>
        </p:nvSpPr>
        <p:spPr>
          <a:xfrm rot="10800000" flipV="1">
            <a:off x="1222513" y="2667768"/>
            <a:ext cx="11447917" cy="523220"/>
          </a:xfrm>
          <a:prstGeom prst="rect">
            <a:avLst/>
          </a:prstGeom>
          <a:noFill/>
        </p:spPr>
        <p:txBody>
          <a:bodyPr wrap="square" rtlCol="0">
            <a:spAutoFit/>
          </a:bodyPr>
          <a:lstStyle/>
          <a:p>
            <a:r>
              <a:rPr lang="en-US" sz="2800">
                <a:solidFill>
                  <a:srgbClr val="FF0000"/>
                </a:solidFill>
              </a:rPr>
              <a:t>DOMAIN</a:t>
            </a:r>
            <a:r>
              <a:rPr lang="en-US" sz="2800"/>
              <a:t>:</a:t>
            </a:r>
            <a:r>
              <a:rPr lang="en-US" sz="2800">
                <a:solidFill>
                  <a:schemeClr val="tx2">
                    <a:lumMod val="50000"/>
                    <a:lumOff val="50000"/>
                  </a:schemeClr>
                </a:solidFill>
              </a:rPr>
              <a:t>BIOTECHNOLOGY</a:t>
            </a:r>
            <a:endParaRPr lang="en-IN" sz="2800">
              <a:solidFill>
                <a:schemeClr val="tx2">
                  <a:lumMod val="50000"/>
                  <a:lumOff val="50000"/>
                </a:schemeClr>
              </a:solidFill>
            </a:endParaRPr>
          </a:p>
        </p:txBody>
      </p:sp>
      <p:sp>
        <p:nvSpPr>
          <p:cNvPr id="3" name="TextBox 2">
            <a:extLst>
              <a:ext uri="{FF2B5EF4-FFF2-40B4-BE49-F238E27FC236}">
                <a16:creationId xmlns:a16="http://schemas.microsoft.com/office/drawing/2014/main" id="{F4E0E7AC-8326-1588-0351-E058DD5A3692}"/>
              </a:ext>
            </a:extLst>
          </p:cNvPr>
          <p:cNvSpPr txBox="1"/>
          <p:nvPr/>
        </p:nvSpPr>
        <p:spPr>
          <a:xfrm>
            <a:off x="1668026" y="4320791"/>
            <a:ext cx="7811626" cy="523220"/>
          </a:xfrm>
          <a:prstGeom prst="rect">
            <a:avLst/>
          </a:prstGeom>
          <a:noFill/>
        </p:spPr>
        <p:txBody>
          <a:bodyPr wrap="none" rtlCol="0">
            <a:spAutoFit/>
          </a:bodyPr>
          <a:lstStyle/>
          <a:p>
            <a:r>
              <a:rPr lang="en-IN" sz="2800" b="1">
                <a:solidFill>
                  <a:schemeClr val="tx2">
                    <a:lumMod val="50000"/>
                    <a:lumOff val="50000"/>
                  </a:schemeClr>
                </a:solidFill>
              </a:rPr>
              <a:t>CASE</a:t>
            </a:r>
            <a:r>
              <a:rPr lang="en-US" sz="2800" b="1">
                <a:solidFill>
                  <a:schemeClr val="tx2">
                    <a:lumMod val="50000"/>
                    <a:lumOff val="50000"/>
                  </a:schemeClr>
                </a:solidFill>
              </a:rPr>
              <a:t> </a:t>
            </a:r>
            <a:r>
              <a:rPr lang="en-IN" sz="2800" b="1">
                <a:solidFill>
                  <a:schemeClr val="tx2">
                    <a:lumMod val="50000"/>
                    <a:lumOff val="50000"/>
                  </a:schemeClr>
                </a:solidFill>
              </a:rPr>
              <a:t>STUDY  ANALYSIS ON</a:t>
            </a:r>
            <a:r>
              <a:rPr lang="en-US" sz="2800" b="1">
                <a:solidFill>
                  <a:schemeClr val="tx2">
                    <a:lumMod val="50000"/>
                    <a:lumOff val="50000"/>
                  </a:schemeClr>
                </a:solidFill>
              </a:rPr>
              <a:t> </a:t>
            </a:r>
            <a:r>
              <a:rPr lang="en-IN" sz="2800" b="1">
                <a:solidFill>
                  <a:schemeClr val="tx2">
                    <a:lumMod val="50000"/>
                    <a:lumOff val="50000"/>
                  </a:schemeClr>
                </a:solidFill>
              </a:rPr>
              <a:t>BIOCON COMPANY</a:t>
            </a:r>
          </a:p>
        </p:txBody>
      </p:sp>
    </p:spTree>
    <p:extLst>
      <p:ext uri="{BB962C8B-B14F-4D97-AF65-F5344CB8AC3E}">
        <p14:creationId xmlns:p14="http://schemas.microsoft.com/office/powerpoint/2010/main" val="1091229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07967-064E-BF90-491D-6143C929C097}"/>
              </a:ext>
            </a:extLst>
          </p:cNvPr>
          <p:cNvSpPr txBox="1"/>
          <p:nvPr/>
        </p:nvSpPr>
        <p:spPr>
          <a:xfrm>
            <a:off x="208722" y="417444"/>
            <a:ext cx="2630015" cy="584775"/>
          </a:xfrm>
          <a:prstGeom prst="rect">
            <a:avLst/>
          </a:prstGeom>
          <a:noFill/>
        </p:spPr>
        <p:txBody>
          <a:bodyPr wrap="none" rtlCol="0">
            <a:spAutoFit/>
          </a:bodyPr>
          <a:lstStyle/>
          <a:p>
            <a:r>
              <a:rPr lang="en-US" sz="3200">
                <a:solidFill>
                  <a:srgbClr val="FF0000"/>
                </a:solidFill>
              </a:rPr>
              <a:t>INNOVATION:</a:t>
            </a:r>
            <a:endParaRPr lang="en-IN" sz="3200">
              <a:solidFill>
                <a:srgbClr val="FF0000"/>
              </a:solidFill>
            </a:endParaRPr>
          </a:p>
        </p:txBody>
      </p:sp>
      <p:sp>
        <p:nvSpPr>
          <p:cNvPr id="3" name="TextBox 2">
            <a:extLst>
              <a:ext uri="{FF2B5EF4-FFF2-40B4-BE49-F238E27FC236}">
                <a16:creationId xmlns:a16="http://schemas.microsoft.com/office/drawing/2014/main" id="{B5C9ABCB-E12B-93CD-E312-02C7B145F372}"/>
              </a:ext>
            </a:extLst>
          </p:cNvPr>
          <p:cNvSpPr txBox="1"/>
          <p:nvPr/>
        </p:nvSpPr>
        <p:spPr>
          <a:xfrm>
            <a:off x="208722" y="1213009"/>
            <a:ext cx="10485782" cy="4431983"/>
          </a:xfrm>
          <a:prstGeom prst="rect">
            <a:avLst/>
          </a:prstGeom>
          <a:noFill/>
        </p:spPr>
        <p:txBody>
          <a:bodyPr vert="horz" wrap="square" rtlCol="0" anchor="ctr">
            <a:spAutoFit/>
          </a:bodyPr>
          <a:lstStyle/>
          <a:p>
            <a:pPr algn="just"/>
            <a:r>
              <a:rPr lang="en-IN" sz="2400" b="1"/>
              <a:t>Biosimilars:</a:t>
            </a:r>
            <a:r>
              <a:rPr lang="en-IN" sz="2400"/>
              <a:t> Biocon boasts a robust pipeline and is a pioneer in bringing affordable alternatives to expensive biologics in advanced markets across the globe. [</a:t>
            </a:r>
            <a:r>
              <a:rPr lang="en-IN" sz="2400">
                <a:hlinkClick r:id="rId2"/>
              </a:rPr>
              <a:t>1</a:t>
            </a:r>
            <a:r>
              <a:rPr lang="en-IN" sz="2400"/>
              <a:t>, </a:t>
            </a:r>
            <a:r>
              <a:rPr lang="en-IN" sz="2400">
                <a:hlinkClick r:id="rId3"/>
              </a:rPr>
              <a:t>2</a:t>
            </a:r>
            <a:r>
              <a:rPr lang="en-IN" sz="2400"/>
              <a:t>, </a:t>
            </a:r>
            <a:r>
              <a:rPr lang="en-IN" sz="2400">
                <a:hlinkClick r:id="rId4"/>
              </a:rPr>
              <a:t>3</a:t>
            </a:r>
            <a:r>
              <a:rPr lang="en-IN" sz="2400"/>
              <a:t>]</a:t>
            </a:r>
          </a:p>
          <a:p>
            <a:pPr algn="just"/>
            <a:r>
              <a:rPr lang="en-IN" sz="2400" b="1"/>
              <a:t>Novel Biologics:</a:t>
            </a:r>
            <a:r>
              <a:rPr lang="en-IN" sz="2400"/>
              <a:t> The company develops in-house cutting-edge therapies, including the first indigenously developed novel monoclonal antibody in India, </a:t>
            </a:r>
            <a:r>
              <a:rPr lang="en-IN" sz="2400">
                <a:hlinkClick r:id="rId5"/>
              </a:rPr>
              <a:t>Nimotuzumab</a:t>
            </a:r>
            <a:r>
              <a:rPr lang="en-IN" sz="2400"/>
              <a:t>, for head and neck cancer. [</a:t>
            </a:r>
            <a:r>
              <a:rPr lang="en-IN" sz="2400">
                <a:hlinkClick r:id="rId5"/>
              </a:rPr>
              <a:t>1</a:t>
            </a:r>
            <a:r>
              <a:rPr lang="en-IN" sz="2400"/>
              <a:t>]</a:t>
            </a:r>
          </a:p>
          <a:p>
            <a:pPr algn="just"/>
            <a:r>
              <a:rPr lang="en-IN" sz="2400" b="1"/>
              <a:t>Immuno-oncology:</a:t>
            </a:r>
            <a:r>
              <a:rPr lang="en-IN" sz="2400"/>
              <a:t> Through clinical-stage biotechnology entities like </a:t>
            </a:r>
          </a:p>
          <a:p>
            <a:pPr algn="just"/>
            <a:r>
              <a:rPr lang="en-IN" sz="2400"/>
              <a:t> Therapeutics, Biocon anchors the development of bifunctional antibodies. [</a:t>
            </a:r>
            <a:r>
              <a:rPr lang="en-IN" sz="2400">
                <a:hlinkClick r:id="rId6"/>
              </a:rPr>
              <a:t>1</a:t>
            </a:r>
            <a:r>
              <a:rPr lang="en-IN" sz="2400"/>
              <a:t>]</a:t>
            </a:r>
          </a:p>
          <a:p>
            <a:pPr algn="just"/>
            <a:r>
              <a:rPr lang="en-IN" sz="2400" b="1"/>
              <a:t>Global Collaborations:</a:t>
            </a:r>
            <a:r>
              <a:rPr lang="en-IN" sz="2400"/>
              <a:t> With headquarters in Bengaluru, Biocon continues to push the envelope in global healthcare through strategic R&amp;D and international partnerships. [</a:t>
            </a:r>
            <a:r>
              <a:rPr lang="en-IN" sz="2400">
                <a:hlinkClick r:id="rId7"/>
              </a:rPr>
              <a:t>1</a:t>
            </a:r>
            <a:r>
              <a:rPr lang="en-IN" sz="2400"/>
              <a:t>, </a:t>
            </a:r>
            <a:r>
              <a:rPr lang="en-IN" sz="2400">
                <a:hlinkClick r:id="rId8"/>
              </a:rPr>
              <a:t>2</a:t>
            </a:r>
            <a:r>
              <a:rPr lang="en-IN" sz="2400"/>
              <a:t>, </a:t>
            </a:r>
            <a:r>
              <a:rPr lang="en-IN" sz="2400">
                <a:hlinkClick r:id="rId9"/>
              </a:rPr>
              <a:t>3</a:t>
            </a:r>
            <a:r>
              <a:rPr lang="en-IN" sz="2400"/>
              <a:t>, </a:t>
            </a:r>
            <a:r>
              <a:rPr lang="en-IN" sz="2400">
                <a:hlinkClick r:id="rId10"/>
              </a:rPr>
              <a:t>4</a:t>
            </a:r>
            <a:r>
              <a:rPr lang="en-IN" sz="2400"/>
              <a:t>, </a:t>
            </a:r>
            <a:r>
              <a:rPr lang="en-IN" sz="2400">
                <a:hlinkClick r:id="rId6"/>
              </a:rPr>
              <a:t>5</a:t>
            </a:r>
            <a:r>
              <a:rPr lang="en-IN" sz="2400"/>
              <a:t>]</a:t>
            </a:r>
          </a:p>
          <a:p>
            <a:pPr algn="just"/>
            <a:endParaRPr lang="en-IN"/>
          </a:p>
        </p:txBody>
      </p:sp>
    </p:spTree>
    <p:extLst>
      <p:ext uri="{BB962C8B-B14F-4D97-AF65-F5344CB8AC3E}">
        <p14:creationId xmlns:p14="http://schemas.microsoft.com/office/powerpoint/2010/main" val="3271954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04A5B-91A3-DD37-C17A-EFB07A04B40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305BB3-B107-F5D7-8196-6F1EB18169AC}"/>
              </a:ext>
            </a:extLst>
          </p:cNvPr>
          <p:cNvSpPr txBox="1"/>
          <p:nvPr/>
        </p:nvSpPr>
        <p:spPr>
          <a:xfrm>
            <a:off x="549135" y="-17508"/>
            <a:ext cx="9669117" cy="1938992"/>
          </a:xfrm>
          <a:prstGeom prst="rect">
            <a:avLst/>
          </a:prstGeom>
          <a:noFill/>
        </p:spPr>
        <p:txBody>
          <a:bodyPr wrap="square">
            <a:spAutoFit/>
          </a:bodyPr>
          <a:lstStyle/>
          <a:p>
            <a:r>
              <a:rPr lang="en-IN" sz="2400"/>
              <a:t>BIOCON is a leading Indian biopharmaceutical company dedicated to making therapies accessible and affordable globally. Through its subsidiary, it delivers an extensive portfolio of biosimilars for oncology and autoimmune diseases, as well as affordable insulin </a:t>
            </a:r>
            <a:r>
              <a:rPr lang="en-IN" sz="2400" err="1"/>
              <a:t>analogs</a:t>
            </a:r>
            <a:r>
              <a:rPr lang="en-IN" sz="2400"/>
              <a:t> for diabetes care.   </a:t>
            </a:r>
          </a:p>
        </p:txBody>
      </p:sp>
      <p:sp>
        <p:nvSpPr>
          <p:cNvPr id="11" name="TextBox 10">
            <a:extLst>
              <a:ext uri="{FF2B5EF4-FFF2-40B4-BE49-F238E27FC236}">
                <a16:creationId xmlns:a16="http://schemas.microsoft.com/office/drawing/2014/main" id="{07E587C7-7A86-5B4C-0DB3-8167288C799D}"/>
              </a:ext>
            </a:extLst>
          </p:cNvPr>
          <p:cNvSpPr txBox="1"/>
          <p:nvPr/>
        </p:nvSpPr>
        <p:spPr>
          <a:xfrm>
            <a:off x="549135" y="2105347"/>
            <a:ext cx="8883097" cy="2278829"/>
          </a:xfrm>
          <a:prstGeom prst="rect">
            <a:avLst/>
          </a:prstGeom>
          <a:noFill/>
        </p:spPr>
        <p:txBody>
          <a:bodyPr wrap="square">
            <a:spAutoFit/>
          </a:bodyPr>
          <a:lstStyle/>
          <a:p>
            <a:pPr marL="0" marR="0" indent="0" algn="l">
              <a:lnSpc>
                <a:spcPts val="1650"/>
              </a:lnSpc>
            </a:pPr>
            <a:r>
              <a:rPr lang="en-IN" sz="2400" b="1" i="0" dirty="0">
                <a:solidFill>
                  <a:srgbClr val="0A0A0A"/>
                </a:solidFill>
                <a:effectLst/>
                <a:latin typeface="Google Sans"/>
              </a:rPr>
              <a:t>Pioneering Insulin:</a:t>
            </a:r>
            <a:r>
              <a:rPr lang="en-IN" sz="2400" b="0" i="0" dirty="0">
                <a:solidFill>
                  <a:srgbClr val="0A0A0A"/>
                </a:solidFill>
                <a:effectLst/>
                <a:latin typeface="Google Sans"/>
              </a:rPr>
              <a:t> </a:t>
            </a:r>
          </a:p>
          <a:p>
            <a:pPr marL="0" marR="0" indent="0" algn="l">
              <a:lnSpc>
                <a:spcPts val="1650"/>
              </a:lnSpc>
            </a:pPr>
            <a:endParaRPr lang="en-IN" sz="2400" dirty="0">
              <a:solidFill>
                <a:srgbClr val="0A0A0A"/>
              </a:solidFill>
              <a:latin typeface="Google Sans"/>
            </a:endParaRPr>
          </a:p>
          <a:p>
            <a:pPr marL="0" marR="0" indent="0" algn="l">
              <a:lnSpc>
                <a:spcPts val="1650"/>
              </a:lnSpc>
            </a:pPr>
            <a:r>
              <a:rPr lang="en-IN" sz="2400" b="0" i="0" dirty="0" err="1">
                <a:solidFill>
                  <a:srgbClr val="0A0A0A"/>
                </a:solidFill>
                <a:effectLst/>
                <a:latin typeface="Google Sans"/>
              </a:rPr>
              <a:t>Biocon</a:t>
            </a:r>
            <a:r>
              <a:rPr lang="en-IN" sz="2400" b="0" i="0" dirty="0">
                <a:solidFill>
                  <a:srgbClr val="0A0A0A"/>
                </a:solidFill>
                <a:effectLst/>
                <a:latin typeface="Google Sans"/>
              </a:rPr>
              <a:t> was the first company in the world to develop and </a:t>
            </a:r>
          </a:p>
          <a:p>
            <a:pPr marL="0" marR="0" indent="0" algn="l">
              <a:lnSpc>
                <a:spcPts val="1650"/>
              </a:lnSpc>
            </a:pPr>
            <a:endParaRPr lang="en-IN" sz="2400" dirty="0">
              <a:solidFill>
                <a:srgbClr val="0A0A0A"/>
              </a:solidFill>
              <a:latin typeface="Google Sans"/>
            </a:endParaRPr>
          </a:p>
          <a:p>
            <a:pPr marL="0" marR="0" indent="0" algn="l">
              <a:lnSpc>
                <a:spcPts val="1650"/>
              </a:lnSpc>
            </a:pPr>
            <a:r>
              <a:rPr lang="en-IN" sz="2400" b="0" i="0" dirty="0">
                <a:solidFill>
                  <a:srgbClr val="0A0A0A"/>
                </a:solidFill>
                <a:effectLst/>
                <a:latin typeface="Google Sans"/>
              </a:rPr>
              <a:t>commercialize recombinant human insulin (</a:t>
            </a:r>
            <a:r>
              <a:rPr lang="en-IN" sz="2400" b="0" i="0" dirty="0" err="1">
                <a:solidFill>
                  <a:srgbClr val="0A0A0A"/>
                </a:solidFill>
                <a:effectLst/>
                <a:latin typeface="Google Sans"/>
              </a:rPr>
              <a:t>rh</a:t>
            </a:r>
            <a:r>
              <a:rPr lang="en-IN" sz="2400" b="0" i="0" dirty="0">
                <a:solidFill>
                  <a:srgbClr val="0A0A0A"/>
                </a:solidFill>
                <a:effectLst/>
                <a:latin typeface="Google Sans"/>
              </a:rPr>
              <a:t>-insulin) using a </a:t>
            </a:r>
          </a:p>
          <a:p>
            <a:pPr marL="0" marR="0" indent="0" algn="l">
              <a:lnSpc>
                <a:spcPts val="1650"/>
              </a:lnSpc>
            </a:pPr>
            <a:endParaRPr lang="en-IN" sz="2400" dirty="0">
              <a:solidFill>
                <a:srgbClr val="0A0A0A"/>
              </a:solidFill>
              <a:latin typeface="Google Sans"/>
            </a:endParaRPr>
          </a:p>
          <a:p>
            <a:pPr marL="0" marR="0" indent="0" algn="l">
              <a:lnSpc>
                <a:spcPts val="1650"/>
              </a:lnSpc>
            </a:pPr>
            <a:r>
              <a:rPr lang="en-IN" sz="2400" b="0" i="0" dirty="0">
                <a:solidFill>
                  <a:srgbClr val="0A0A0A"/>
                </a:solidFill>
                <a:effectLst/>
                <a:latin typeface="Google Sans"/>
              </a:rPr>
              <a:t>proprietary yeast expression platform.   </a:t>
            </a:r>
          </a:p>
          <a:p>
            <a:pPr marL="0" marR="0" indent="0" algn="l">
              <a:lnSpc>
                <a:spcPts val="1650"/>
              </a:lnSpc>
            </a:pPr>
            <a:endParaRPr lang="en-IN" sz="2400" b="0" i="0" dirty="0">
              <a:solidFill>
                <a:srgbClr val="0A0A0A"/>
              </a:solidFill>
              <a:effectLst/>
              <a:latin typeface="Google Sans"/>
            </a:endParaRPr>
          </a:p>
          <a:p>
            <a:pPr marL="0" marR="0" indent="0" algn="l">
              <a:lnSpc>
                <a:spcPts val="1650"/>
              </a:lnSpc>
            </a:pPr>
            <a:endParaRPr lang="en-IN" sz="1800" b="0" i="0" dirty="0">
              <a:solidFill>
                <a:srgbClr val="0A0A0A"/>
              </a:solidFill>
              <a:effectLst/>
              <a:latin typeface="Google Sans"/>
            </a:endParaRPr>
          </a:p>
          <a:p>
            <a:pPr marL="0" marR="0" indent="0" algn="l">
              <a:lnSpc>
                <a:spcPts val="1650"/>
              </a:lnSpc>
              <a:buNone/>
            </a:pPr>
            <a:r>
              <a:rPr lang="en-IN" sz="1800" b="0" i="0" dirty="0">
                <a:solidFill>
                  <a:srgbClr val="0A0A0A"/>
                </a:solidFill>
                <a:effectLst/>
                <a:latin typeface="Google Sans"/>
              </a:rPr>
              <a:t> </a:t>
            </a:r>
          </a:p>
        </p:txBody>
      </p:sp>
      <p:sp>
        <p:nvSpPr>
          <p:cNvPr id="15" name="TextBox 14">
            <a:extLst>
              <a:ext uri="{FF2B5EF4-FFF2-40B4-BE49-F238E27FC236}">
                <a16:creationId xmlns:a16="http://schemas.microsoft.com/office/drawing/2014/main" id="{1971E4CF-A1D7-9F93-B71D-61ECB07FC24F}"/>
              </a:ext>
            </a:extLst>
          </p:cNvPr>
          <p:cNvSpPr txBox="1"/>
          <p:nvPr/>
        </p:nvSpPr>
        <p:spPr>
          <a:xfrm>
            <a:off x="549137" y="5179901"/>
            <a:ext cx="8555244" cy="2081147"/>
          </a:xfrm>
          <a:prstGeom prst="rect">
            <a:avLst/>
          </a:prstGeom>
          <a:noFill/>
        </p:spPr>
        <p:txBody>
          <a:bodyPr wrap="square" anchor="ctr">
            <a:spAutoFit/>
          </a:bodyPr>
          <a:lstStyle/>
          <a:p>
            <a:pPr marL="0" marR="0" indent="0">
              <a:lnSpc>
                <a:spcPts val="1650"/>
              </a:lnSpc>
              <a:buNone/>
            </a:pPr>
            <a:r>
              <a:rPr lang="en-IN" sz="2400" b="1" i="0">
                <a:solidFill>
                  <a:srgbClr val="0A0A0A"/>
                </a:solidFill>
                <a:effectLst/>
                <a:latin typeface="Google Sans"/>
              </a:rPr>
              <a:t>GLP-1 Weight Management:</a:t>
            </a:r>
            <a:r>
              <a:rPr lang="en-IN" sz="2400" b="0" i="0">
                <a:solidFill>
                  <a:srgbClr val="0A0A0A"/>
                </a:solidFill>
                <a:effectLst/>
                <a:latin typeface="Google Sans"/>
              </a:rPr>
              <a:t> </a:t>
            </a:r>
          </a:p>
          <a:p>
            <a:pPr marL="0" marR="0" indent="0">
              <a:lnSpc>
                <a:spcPts val="1650"/>
              </a:lnSpc>
              <a:buNone/>
            </a:pPr>
            <a:endParaRPr lang="en-IN" sz="2400" b="0" i="0">
              <a:solidFill>
                <a:srgbClr val="0A0A0A"/>
              </a:solidFill>
              <a:effectLst/>
              <a:latin typeface="Google Sans"/>
            </a:endParaRPr>
          </a:p>
          <a:p>
            <a:pPr marL="0" marR="0" indent="0">
              <a:lnSpc>
                <a:spcPts val="1650"/>
              </a:lnSpc>
              <a:buNone/>
            </a:pPr>
            <a:r>
              <a:rPr lang="en-IN" sz="2400" b="0" i="0" err="1">
                <a:solidFill>
                  <a:srgbClr val="0A0A0A"/>
                </a:solidFill>
                <a:effectLst/>
                <a:latin typeface="Google Sans"/>
              </a:rPr>
              <a:t>Biocon</a:t>
            </a:r>
            <a:r>
              <a:rPr lang="en-IN" sz="2400" b="0" i="0">
                <a:solidFill>
                  <a:srgbClr val="0A0A0A"/>
                </a:solidFill>
                <a:effectLst/>
                <a:latin typeface="Google Sans"/>
              </a:rPr>
              <a:t> has expanded its footprint into chronic weight management </a:t>
            </a:r>
          </a:p>
          <a:p>
            <a:pPr marL="0" marR="0" indent="0">
              <a:lnSpc>
                <a:spcPts val="1650"/>
              </a:lnSpc>
              <a:buNone/>
            </a:pPr>
            <a:endParaRPr lang="en-IN" sz="2400">
              <a:solidFill>
                <a:srgbClr val="0A0A0A"/>
              </a:solidFill>
              <a:latin typeface="Google Sans"/>
            </a:endParaRPr>
          </a:p>
          <a:p>
            <a:pPr marL="0" marR="0" indent="0">
              <a:lnSpc>
                <a:spcPts val="1650"/>
              </a:lnSpc>
              <a:buNone/>
            </a:pPr>
            <a:r>
              <a:rPr lang="en-IN" sz="2400" b="0" i="0">
                <a:solidFill>
                  <a:srgbClr val="0A0A0A"/>
                </a:solidFill>
                <a:effectLst/>
                <a:latin typeface="Google Sans"/>
              </a:rPr>
              <a:t>and diabetes by developing FDA-approved Liraglutide injections </a:t>
            </a:r>
          </a:p>
          <a:p>
            <a:pPr marL="0" marR="0" indent="0">
              <a:lnSpc>
                <a:spcPts val="1650"/>
              </a:lnSpc>
              <a:buNone/>
            </a:pPr>
            <a:endParaRPr lang="en-IN" sz="2400">
              <a:solidFill>
                <a:srgbClr val="0A0A0A"/>
              </a:solidFill>
              <a:latin typeface="Google Sans"/>
            </a:endParaRPr>
          </a:p>
          <a:p>
            <a:pPr marL="0" marR="0" indent="0">
              <a:lnSpc>
                <a:spcPts val="1650"/>
              </a:lnSpc>
              <a:buNone/>
            </a:pPr>
            <a:r>
              <a:rPr lang="en-IN" sz="2400" b="0" i="0">
                <a:solidFill>
                  <a:srgbClr val="0A0A0A"/>
                </a:solidFill>
                <a:effectLst/>
                <a:latin typeface="Google Sans"/>
              </a:rPr>
              <a:t>and GLP-1 peptides. </a:t>
            </a:r>
          </a:p>
          <a:p>
            <a:pPr marL="0" marR="0" indent="0">
              <a:lnSpc>
                <a:spcPts val="1650"/>
              </a:lnSpc>
              <a:buNone/>
            </a:pPr>
            <a:endParaRPr lang="en-IN" sz="2400" b="0" i="0">
              <a:solidFill>
                <a:srgbClr val="0A0A0A"/>
              </a:solidFill>
              <a:effectLst/>
              <a:latin typeface="Google Sans"/>
            </a:endParaRPr>
          </a:p>
          <a:p>
            <a:pPr marL="0" marR="0" indent="0">
              <a:lnSpc>
                <a:spcPts val="1650"/>
              </a:lnSpc>
              <a:buNone/>
            </a:pPr>
            <a:endParaRPr lang="en-IN" sz="2400" b="0" i="0">
              <a:solidFill>
                <a:srgbClr val="0A0A0A"/>
              </a:solidFill>
              <a:effectLst/>
              <a:latin typeface="Google Sans"/>
            </a:endParaRPr>
          </a:p>
        </p:txBody>
      </p:sp>
      <p:pic>
        <p:nvPicPr>
          <p:cNvPr id="16" name="Picture 15">
            <a:extLst>
              <a:ext uri="{FF2B5EF4-FFF2-40B4-BE49-F238E27FC236}">
                <a16:creationId xmlns:a16="http://schemas.microsoft.com/office/drawing/2014/main" id="{49F871EA-9315-3C42-4192-C5109EBE3CF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971761" y="3352800"/>
            <a:ext cx="152400" cy="152400"/>
          </a:xfrm>
          <a:prstGeom prst="rect">
            <a:avLst/>
          </a:prstGeom>
        </p:spPr>
      </p:pic>
      <p:sp>
        <p:nvSpPr>
          <p:cNvPr id="3" name="TextBox 2">
            <a:extLst>
              <a:ext uri="{FF2B5EF4-FFF2-40B4-BE49-F238E27FC236}">
                <a16:creationId xmlns:a16="http://schemas.microsoft.com/office/drawing/2014/main" id="{6F0F83C0-6A90-7623-55F5-8A8917FA01F0}"/>
              </a:ext>
            </a:extLst>
          </p:cNvPr>
          <p:cNvSpPr txBox="1"/>
          <p:nvPr/>
        </p:nvSpPr>
        <p:spPr>
          <a:xfrm>
            <a:off x="549134" y="3589072"/>
            <a:ext cx="9669117" cy="1569660"/>
          </a:xfrm>
          <a:prstGeom prst="rect">
            <a:avLst/>
          </a:prstGeom>
          <a:noFill/>
        </p:spPr>
        <p:txBody>
          <a:bodyPr wrap="square">
            <a:spAutoFit/>
          </a:bodyPr>
          <a:lstStyle/>
          <a:p>
            <a:r>
              <a:rPr lang="en-IN" sz="2400" b="1">
                <a:effectLst/>
                <a:latin typeface="Google Sans"/>
              </a:rPr>
              <a:t>Immuno-Oncology:</a:t>
            </a:r>
            <a:r>
              <a:rPr lang="en-IN" sz="2400" b="0">
                <a:effectLst/>
                <a:latin typeface="Google Sans"/>
              </a:rPr>
              <a:t> </a:t>
            </a:r>
          </a:p>
          <a:p>
            <a:r>
              <a:rPr lang="en-IN" sz="2400" b="0">
                <a:effectLst/>
                <a:latin typeface="Google Sans"/>
              </a:rPr>
              <a:t>Through its U.S.-based clinical-stage affiliate, </a:t>
            </a:r>
            <a:r>
              <a:rPr lang="en-IN" sz="2400" b="0" err="1">
                <a:effectLst/>
                <a:latin typeface="Google Sans"/>
              </a:rPr>
              <a:t>Bicara</a:t>
            </a:r>
            <a:r>
              <a:rPr lang="en-IN" sz="2400" b="0">
                <a:effectLst/>
                <a:latin typeface="Google Sans"/>
              </a:rPr>
              <a:t> Therapeutics, Biocon is accelerating the development of bifunctional antibodies aimed at malignant </a:t>
            </a:r>
            <a:r>
              <a:rPr lang="en-IN" sz="2400" b="0" err="1">
                <a:effectLst/>
                <a:latin typeface="Google Sans"/>
              </a:rPr>
              <a:t>tumors</a:t>
            </a:r>
            <a:r>
              <a:rPr lang="en-IN" sz="2400" b="0">
                <a:effectLst/>
                <a:latin typeface="Google Sans"/>
              </a:rPr>
              <a:t>.</a:t>
            </a:r>
            <a:r>
              <a:rPr lang="en-IN" sz="2400"/>
              <a:t> [</a:t>
            </a:r>
            <a:r>
              <a:rPr lang="en-IN" sz="2400">
                <a:hlinkClick r:id="rId3"/>
              </a:rPr>
              <a:t>1</a:t>
            </a:r>
            <a:r>
              <a:rPr lang="en-IN" sz="2400"/>
              <a:t>]</a:t>
            </a:r>
          </a:p>
        </p:txBody>
      </p:sp>
    </p:spTree>
    <p:extLst>
      <p:ext uri="{BB962C8B-B14F-4D97-AF65-F5344CB8AC3E}">
        <p14:creationId xmlns:p14="http://schemas.microsoft.com/office/powerpoint/2010/main" val="1359265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0A4384C-585C-B19C-8916-29B9FD8654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473457-2CFA-156D-FAA1-9D042FE8C7C9}"/>
              </a:ext>
            </a:extLst>
          </p:cNvPr>
          <p:cNvSpPr txBox="1"/>
          <p:nvPr/>
        </p:nvSpPr>
        <p:spPr>
          <a:xfrm>
            <a:off x="178904" y="228601"/>
            <a:ext cx="6672838" cy="584775"/>
          </a:xfrm>
          <a:prstGeom prst="rect">
            <a:avLst/>
          </a:prstGeom>
          <a:noFill/>
        </p:spPr>
        <p:txBody>
          <a:bodyPr wrap="square" rtlCol="0">
            <a:spAutoFit/>
          </a:bodyPr>
          <a:lstStyle/>
          <a:p>
            <a:r>
              <a:rPr lang="en-US" sz="3200">
                <a:solidFill>
                  <a:srgbClr val="FF0000"/>
                </a:solidFill>
              </a:rPr>
              <a:t>Products</a:t>
            </a:r>
            <a:r>
              <a:rPr lang="en-US" sz="3200"/>
              <a:t> </a:t>
            </a:r>
            <a:r>
              <a:rPr lang="en-US" sz="3200">
                <a:solidFill>
                  <a:srgbClr val="FF0000"/>
                </a:solidFill>
              </a:rPr>
              <a:t>:</a:t>
            </a:r>
            <a:endParaRPr lang="en-IN" sz="3200">
              <a:solidFill>
                <a:srgbClr val="FF0000"/>
              </a:solidFill>
            </a:endParaRPr>
          </a:p>
        </p:txBody>
      </p:sp>
      <p:sp>
        <p:nvSpPr>
          <p:cNvPr id="4" name="TextBox 3">
            <a:extLst>
              <a:ext uri="{FF2B5EF4-FFF2-40B4-BE49-F238E27FC236}">
                <a16:creationId xmlns:a16="http://schemas.microsoft.com/office/drawing/2014/main" id="{C3A93892-C847-8851-F6EA-6491D748D676}"/>
              </a:ext>
            </a:extLst>
          </p:cNvPr>
          <p:cNvSpPr txBox="1"/>
          <p:nvPr/>
        </p:nvSpPr>
        <p:spPr>
          <a:xfrm>
            <a:off x="-1" y="813376"/>
            <a:ext cx="10982739" cy="3275256"/>
          </a:xfrm>
          <a:prstGeom prst="rect">
            <a:avLst/>
          </a:prstGeom>
          <a:noFill/>
        </p:spPr>
        <p:txBody>
          <a:bodyPr wrap="square" anchor="ctr">
            <a:spAutoFit/>
          </a:bodyPr>
          <a:lstStyle/>
          <a:p>
            <a:pPr>
              <a:spcAft>
                <a:spcPts val="1125"/>
              </a:spcAft>
            </a:pPr>
            <a:r>
              <a:rPr lang="en-IN" sz="2000" b="0" i="0" err="1">
                <a:solidFill>
                  <a:srgbClr val="333333"/>
                </a:solidFill>
                <a:effectLst/>
              </a:rPr>
              <a:t>t</a:t>
            </a:r>
            <a:r>
              <a:rPr lang="en-IN" sz="2000" err="1">
                <a:solidFill>
                  <a:srgbClr val="333333"/>
                </a:solidFill>
              </a:rPr>
              <a:t>At</a:t>
            </a:r>
            <a:r>
              <a:rPr lang="en-IN" sz="2000">
                <a:solidFill>
                  <a:srgbClr val="333333"/>
                </a:solidFill>
              </a:rPr>
              <a:t> Biocon, we focus on three core therapeutic areas—Diabetes, Oncology and Immunology—and address some of the world’s </a:t>
            </a:r>
            <a:r>
              <a:rPr lang="en-IN" sz="2000" err="1">
                <a:solidFill>
                  <a:srgbClr val="333333"/>
                </a:solidFill>
              </a:rPr>
              <a:t>mos</a:t>
            </a:r>
            <a:r>
              <a:rPr lang="en-IN" sz="2000" b="0" i="0">
                <a:solidFill>
                  <a:srgbClr val="333333"/>
                </a:solidFill>
                <a:effectLst/>
              </a:rPr>
              <a:t> urgent healthcare needs. Through deep scientific expertise, world-class R&amp;D, and a robust global infrastructure, we advance high-quality biosimilars that make essential treatments more affordable and accessible.</a:t>
            </a:r>
          </a:p>
          <a:p>
            <a:pPr marL="0" marR="0" indent="0">
              <a:spcAft>
                <a:spcPts val="2625"/>
              </a:spcAft>
              <a:buNone/>
            </a:pPr>
            <a:r>
              <a:rPr lang="en-IN" sz="2000" b="0" i="0">
                <a:solidFill>
                  <a:srgbClr val="333333"/>
                </a:solidFill>
                <a:effectLst/>
              </a:rPr>
              <a:t>Our therapies help manage chronic and complex diseases for millions of patients. Building on this foundation, we are expanding our pipeline into Ophthalmology and Bone Health to further address unmet medical needs and improve health outcomes</a:t>
            </a:r>
            <a:r>
              <a:rPr lang="en-IN" sz="1500" b="0" i="0">
                <a:solidFill>
                  <a:srgbClr val="333333"/>
                </a:solidFill>
                <a:effectLst/>
              </a:rPr>
              <a:t>.</a:t>
            </a:r>
          </a:p>
          <a:p>
            <a:pPr>
              <a:buNone/>
            </a:pPr>
            <a:br>
              <a:rPr lang="en-IN"/>
            </a:br>
            <a:endParaRPr lang="en-IN"/>
          </a:p>
        </p:txBody>
      </p:sp>
      <p:sp>
        <p:nvSpPr>
          <p:cNvPr id="6" name="TextBox 5">
            <a:extLst>
              <a:ext uri="{FF2B5EF4-FFF2-40B4-BE49-F238E27FC236}">
                <a16:creationId xmlns:a16="http://schemas.microsoft.com/office/drawing/2014/main" id="{7DC3FA3B-E524-4F83-3CAE-12D030E0D868}"/>
              </a:ext>
            </a:extLst>
          </p:cNvPr>
          <p:cNvSpPr txBox="1"/>
          <p:nvPr/>
        </p:nvSpPr>
        <p:spPr>
          <a:xfrm>
            <a:off x="318051" y="3568147"/>
            <a:ext cx="10982739" cy="2808461"/>
          </a:xfrm>
          <a:prstGeom prst="rect">
            <a:avLst/>
          </a:prstGeom>
          <a:noFill/>
        </p:spPr>
        <p:txBody>
          <a:bodyPr wrap="square">
            <a:spAutoFit/>
          </a:bodyPr>
          <a:lstStyle/>
          <a:p>
            <a:pPr marL="0" marR="0">
              <a:spcBef>
                <a:spcPts val="1800"/>
              </a:spcBef>
              <a:spcAft>
                <a:spcPts val="900"/>
              </a:spcAft>
              <a:buNone/>
            </a:pPr>
            <a:r>
              <a:rPr lang="en-IN" sz="1500" b="1">
                <a:effectLst/>
                <a:latin typeface="Google Sans"/>
              </a:rPr>
              <a:t> </a:t>
            </a:r>
            <a:r>
              <a:rPr lang="en-IN" sz="2400" b="1">
                <a:effectLst/>
              </a:rPr>
              <a:t>Branded Formulations</a:t>
            </a:r>
          </a:p>
          <a:p>
            <a:pPr marL="0" marR="0">
              <a:spcBef>
                <a:spcPts val="900"/>
              </a:spcBef>
              <a:spcAft>
                <a:spcPts val="1200"/>
              </a:spcAft>
              <a:buNone/>
            </a:pPr>
            <a:r>
              <a:rPr lang="en-IN" sz="2400" b="0">
                <a:effectLst/>
              </a:rPr>
              <a:t>A segment composed of a portfolio containing more than 70 distinct brands targeted primarily at domestic market leadership across multi-specialty healthcare verticals in India. [</a:t>
            </a:r>
            <a:r>
              <a:rPr lang="en-IN" sz="2400" b="0">
                <a:effectLst/>
                <a:hlinkClick r:id="rId3"/>
              </a:rPr>
              <a:t>1</a:t>
            </a:r>
            <a:r>
              <a:rPr lang="en-IN" sz="2400" b="0">
                <a:effectLst/>
              </a:rPr>
              <a:t>]</a:t>
            </a:r>
          </a:p>
          <a:p>
            <a:pPr algn="ctr">
              <a:spcBef>
                <a:spcPts val="900"/>
              </a:spcBef>
              <a:spcAft>
                <a:spcPts val="1200"/>
              </a:spcAft>
            </a:pPr>
            <a:r>
              <a:rPr lang="en-IN" sz="2400" b="0">
                <a:effectLst/>
              </a:rPr>
              <a:t>Would you like to drill down into the </a:t>
            </a:r>
            <a:r>
              <a:rPr lang="en-IN" sz="2400" b="1">
                <a:effectLst/>
              </a:rPr>
              <a:t>clinical trial pipeline</a:t>
            </a:r>
            <a:r>
              <a:rPr lang="en-IN" sz="2400" b="0">
                <a:effectLst/>
              </a:rPr>
              <a:t> for their GLP-1 generics, or see the </a:t>
            </a:r>
            <a:r>
              <a:rPr lang="en-IN" sz="2400" b="1">
                <a:effectLst/>
              </a:rPr>
              <a:t>regulatory approval status</a:t>
            </a:r>
            <a:r>
              <a:rPr lang="en-IN" sz="2400" b="0">
                <a:effectLst/>
              </a:rPr>
              <a:t> of their biosimilars in US </a:t>
            </a:r>
          </a:p>
        </p:txBody>
      </p:sp>
    </p:spTree>
    <p:extLst>
      <p:ext uri="{BB962C8B-B14F-4D97-AF65-F5344CB8AC3E}">
        <p14:creationId xmlns:p14="http://schemas.microsoft.com/office/powerpoint/2010/main" val="16561572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0B7258E7-5A0F-491F-59A5-4B5F23394C7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41633" y="646743"/>
            <a:ext cx="3479258" cy="2031438"/>
          </a:xfrm>
          <a:prstGeom prst="rect">
            <a:avLst/>
          </a:prstGeom>
        </p:spPr>
      </p:pic>
      <p:sp>
        <p:nvSpPr>
          <p:cNvPr id="27" name="TextBox 26">
            <a:extLst>
              <a:ext uri="{FF2B5EF4-FFF2-40B4-BE49-F238E27FC236}">
                <a16:creationId xmlns:a16="http://schemas.microsoft.com/office/drawing/2014/main" id="{F1720DDF-AA54-2D6D-5962-33BF952D3C4F}"/>
              </a:ext>
            </a:extLst>
          </p:cNvPr>
          <p:cNvSpPr txBox="1"/>
          <p:nvPr/>
        </p:nvSpPr>
        <p:spPr>
          <a:xfrm>
            <a:off x="4333462" y="646742"/>
            <a:ext cx="7474226" cy="5024452"/>
          </a:xfrm>
          <a:prstGeom prst="rect">
            <a:avLst/>
          </a:prstGeom>
          <a:noFill/>
        </p:spPr>
        <p:txBody>
          <a:bodyPr wrap="square">
            <a:spAutoFit/>
          </a:bodyPr>
          <a:lstStyle/>
          <a:p>
            <a:pPr marL="0" marR="0">
              <a:spcBef>
                <a:spcPts val="1800"/>
              </a:spcBef>
              <a:spcAft>
                <a:spcPts val="900"/>
              </a:spcAft>
              <a:buNone/>
            </a:pPr>
            <a:r>
              <a:rPr lang="en-IN" sz="2400" b="1">
                <a:effectLst/>
                <a:latin typeface="Google Sans"/>
              </a:rPr>
              <a:t>Generic Formulations &amp; APIs</a:t>
            </a:r>
          </a:p>
          <a:p>
            <a:pPr marL="0" marR="0" algn="just">
              <a:spcBef>
                <a:spcPts val="900"/>
              </a:spcBef>
              <a:spcAft>
                <a:spcPts val="1200"/>
              </a:spcAft>
              <a:buNone/>
            </a:pPr>
            <a:r>
              <a:rPr lang="en-IN" sz="2400" b="0">
                <a:effectLst/>
                <a:latin typeface="Google Sans"/>
              </a:rPr>
              <a:t>Biocon manufactures and supplies Active Pharmaceutical Ingredients (APIs) and finished oral solid/parenteral formulations globally. The portfolio includes immunosuppressants (e.g., Tacrolimus, Everolimus), anti-diabetics (e.g., Semaglutide, Liraglutide), and oncology medications (e.g., Lenalidomide, Olaparib). [</a:t>
            </a:r>
            <a:r>
              <a:rPr lang="en-IN" sz="2400" b="0">
                <a:effectLst/>
                <a:latin typeface="Google Sans"/>
                <a:hlinkClick r:id="rId4"/>
              </a:rPr>
              <a:t>1</a:t>
            </a:r>
            <a:r>
              <a:rPr lang="en-IN" sz="2400" b="0">
                <a:effectLst/>
                <a:latin typeface="Google Sans"/>
              </a:rPr>
              <a:t>, </a:t>
            </a:r>
            <a:r>
              <a:rPr lang="en-IN" sz="2400" b="0">
                <a:effectLst/>
                <a:latin typeface="Google Sans"/>
                <a:hlinkClick r:id="rId5"/>
              </a:rPr>
              <a:t>2</a:t>
            </a:r>
            <a:r>
              <a:rPr lang="en-IN" sz="2400" b="0">
                <a:effectLst/>
                <a:latin typeface="Google Sans"/>
              </a:rPr>
              <a:t>, </a:t>
            </a:r>
            <a:r>
              <a:rPr lang="en-IN" sz="2400" b="0">
                <a:effectLst/>
                <a:latin typeface="Google Sans"/>
                <a:hlinkClick r:id="rId6"/>
              </a:rPr>
              <a:t>3</a:t>
            </a:r>
            <a:r>
              <a:rPr lang="en-IN" sz="2400" b="0">
                <a:effectLst/>
                <a:latin typeface="Google Sans"/>
              </a:rPr>
              <a:t>, </a:t>
            </a:r>
            <a:r>
              <a:rPr lang="en-IN" sz="2400" b="0">
                <a:effectLst/>
                <a:latin typeface="Google Sans"/>
                <a:hlinkClick r:id="rId7"/>
              </a:rPr>
              <a:t>4</a:t>
            </a:r>
            <a:r>
              <a:rPr lang="en-IN" sz="2400" b="0">
                <a:effectLst/>
                <a:latin typeface="Google Sans"/>
              </a:rPr>
              <a:t>]</a:t>
            </a:r>
          </a:p>
          <a:p>
            <a:pPr marL="0" marR="0" algn="just">
              <a:spcBef>
                <a:spcPts val="900"/>
              </a:spcBef>
              <a:spcAft>
                <a:spcPts val="1200"/>
              </a:spcAft>
              <a:buNone/>
            </a:pPr>
            <a:r>
              <a:rPr lang="en-IN" sz="2400" b="0">
                <a:effectLst/>
                <a:latin typeface="Google Sans"/>
              </a:rPr>
              <a:t>For a full directory of available Biocon therapeutics, APIs, and commercialized biosimilar products, you can explore their official </a:t>
            </a:r>
            <a:r>
              <a:rPr lang="en-IN" sz="2400" b="0">
                <a:effectLst/>
                <a:latin typeface="Google Sans"/>
                <a:hlinkClick r:id="rId8"/>
              </a:rPr>
              <a:t>Biocon Products</a:t>
            </a:r>
            <a:r>
              <a:rPr lang="en-IN" sz="2400" b="0">
                <a:effectLst/>
                <a:latin typeface="Google Sans"/>
              </a:rPr>
              <a:t> portal. For patient and regional availability information, consult the </a:t>
            </a:r>
            <a:r>
              <a:rPr lang="en-IN" sz="2400" b="0">
                <a:effectLst/>
                <a:latin typeface="Google Sans"/>
                <a:hlinkClick r:id="rId9"/>
              </a:rPr>
              <a:t>Biocon Biologics Products</a:t>
            </a:r>
            <a:r>
              <a:rPr lang="en-IN" sz="2400" b="0">
                <a:effectLst/>
                <a:latin typeface="Google Sans"/>
              </a:rPr>
              <a:t> directory</a:t>
            </a:r>
          </a:p>
        </p:txBody>
      </p:sp>
      <p:pic>
        <p:nvPicPr>
          <p:cNvPr id="25" name="Picture 24">
            <a:extLst>
              <a:ext uri="{FF2B5EF4-FFF2-40B4-BE49-F238E27FC236}">
                <a16:creationId xmlns:a16="http://schemas.microsoft.com/office/drawing/2014/main" id="{FF978562-11CD-86A3-2F47-DEB4D9715BC2}"/>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0" y="3429000"/>
            <a:ext cx="3754412" cy="2340250"/>
          </a:xfrm>
          <a:prstGeom prst="rect">
            <a:avLst/>
          </a:prstGeom>
        </p:spPr>
      </p:pic>
    </p:spTree>
    <p:extLst>
      <p:ext uri="{BB962C8B-B14F-4D97-AF65-F5344CB8AC3E}">
        <p14:creationId xmlns:p14="http://schemas.microsoft.com/office/powerpoint/2010/main" val="1100103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8E9DD-454E-6834-5024-A688C7AE37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8AD0F0-C081-8276-EA60-22390418D71E}"/>
              </a:ext>
            </a:extLst>
          </p:cNvPr>
          <p:cNvSpPr txBox="1"/>
          <p:nvPr/>
        </p:nvSpPr>
        <p:spPr>
          <a:xfrm>
            <a:off x="510408" y="417443"/>
            <a:ext cx="2380973" cy="584775"/>
          </a:xfrm>
          <a:prstGeom prst="rect">
            <a:avLst/>
          </a:prstGeom>
          <a:noFill/>
        </p:spPr>
        <p:txBody>
          <a:bodyPr wrap="none" rtlCol="0">
            <a:spAutoFit/>
          </a:bodyPr>
          <a:lstStyle/>
          <a:p>
            <a:r>
              <a:rPr lang="en-US" sz="3200">
                <a:solidFill>
                  <a:srgbClr val="FF0000"/>
                </a:solidFill>
              </a:rPr>
              <a:t>Challenges :</a:t>
            </a:r>
            <a:endParaRPr lang="en-IN" sz="3200">
              <a:solidFill>
                <a:srgbClr val="FF0000"/>
              </a:solidFill>
            </a:endParaRPr>
          </a:p>
        </p:txBody>
      </p:sp>
      <p:sp>
        <p:nvSpPr>
          <p:cNvPr id="5" name="TextBox 4">
            <a:extLst>
              <a:ext uri="{FF2B5EF4-FFF2-40B4-BE49-F238E27FC236}">
                <a16:creationId xmlns:a16="http://schemas.microsoft.com/office/drawing/2014/main" id="{DA0163DE-E0A3-9909-F853-40FDF778BFFE}"/>
              </a:ext>
            </a:extLst>
          </p:cNvPr>
          <p:cNvSpPr txBox="1"/>
          <p:nvPr/>
        </p:nvSpPr>
        <p:spPr>
          <a:xfrm>
            <a:off x="510408" y="912766"/>
            <a:ext cx="10274822" cy="5391219"/>
          </a:xfrm>
          <a:prstGeom prst="rect">
            <a:avLst/>
          </a:prstGeom>
          <a:noFill/>
        </p:spPr>
        <p:txBody>
          <a:bodyPr wrap="square">
            <a:spAutoFit/>
          </a:bodyPr>
          <a:lstStyle/>
          <a:p>
            <a:pPr marL="0" marR="0" indent="0" algn="ctr">
              <a:spcAft>
                <a:spcPts val="975"/>
              </a:spcAft>
              <a:buNone/>
            </a:pPr>
            <a:r>
              <a:rPr lang="en-IN" sz="1800" b="1" i="0" spc="0">
                <a:solidFill>
                  <a:srgbClr val="003E76"/>
                </a:solidFill>
                <a:effectLst/>
                <a:latin typeface="Merriweather Sans" pitchFamily="2" charset="0"/>
              </a:rPr>
              <a:t>DIABETES</a:t>
            </a:r>
          </a:p>
          <a:p>
            <a:pPr marL="0" marR="0" indent="0" algn="ctr">
              <a:spcAft>
                <a:spcPts val="2625"/>
              </a:spcAft>
              <a:buNone/>
            </a:pPr>
            <a:r>
              <a:rPr lang="en-IN" sz="1800" b="0" i="0">
                <a:solidFill>
                  <a:srgbClr val="333333"/>
                </a:solidFill>
                <a:effectLst/>
                <a:latin typeface="Merriweather Sans" pitchFamily="2" charset="0"/>
              </a:rPr>
              <a:t>Helping 1 in 5 insulin-dependent people around the world with simple solutions</a:t>
            </a:r>
          </a:p>
          <a:p>
            <a:pPr marL="0" marR="0" indent="0" algn="ctr">
              <a:spcAft>
                <a:spcPts val="975"/>
              </a:spcAft>
              <a:buNone/>
            </a:pPr>
            <a:r>
              <a:rPr lang="en-IN" sz="1800" b="1" i="0" spc="0">
                <a:solidFill>
                  <a:srgbClr val="003E76"/>
                </a:solidFill>
                <a:effectLst/>
                <a:latin typeface="Merriweather Sans" pitchFamily="2" charset="0"/>
              </a:rPr>
              <a:t>ONCOLOGY</a:t>
            </a:r>
          </a:p>
          <a:p>
            <a:pPr marL="0" marR="0" indent="0" algn="ctr">
              <a:spcAft>
                <a:spcPts val="2625"/>
              </a:spcAft>
              <a:buNone/>
            </a:pPr>
            <a:r>
              <a:rPr lang="en-IN" sz="1800" b="0" i="0">
                <a:solidFill>
                  <a:srgbClr val="333333"/>
                </a:solidFill>
                <a:effectLst/>
                <a:latin typeface="Merriweather Sans" pitchFamily="2" charset="0"/>
              </a:rPr>
              <a:t>Our scientists are working relentlessly to provide transformative therapies to cancer patients</a:t>
            </a:r>
          </a:p>
          <a:p>
            <a:pPr marL="0" marR="0" indent="0" algn="ctr">
              <a:spcAft>
                <a:spcPts val="975"/>
              </a:spcAft>
              <a:buNone/>
            </a:pPr>
            <a:r>
              <a:rPr lang="en-IN" sz="1800" b="1" i="0" spc="0">
                <a:solidFill>
                  <a:srgbClr val="003E76"/>
                </a:solidFill>
                <a:effectLst/>
                <a:latin typeface="Merriweather Sans" pitchFamily="2" charset="0"/>
              </a:rPr>
              <a:t>IMMUNOLOGY</a:t>
            </a:r>
          </a:p>
          <a:p>
            <a:pPr marL="0" marR="0" indent="0" algn="ctr">
              <a:spcAft>
                <a:spcPts val="2625"/>
              </a:spcAft>
              <a:buNone/>
            </a:pPr>
            <a:r>
              <a:rPr lang="en-IN" sz="1800" b="0" i="0">
                <a:solidFill>
                  <a:srgbClr val="333333"/>
                </a:solidFill>
                <a:effectLst/>
                <a:latin typeface="Merriweather Sans" pitchFamily="2" charset="0"/>
              </a:rPr>
              <a:t>Pioneers in targeted therapies and exploring potential treatments for patients with immune dysfunctions.</a:t>
            </a:r>
          </a:p>
          <a:p>
            <a:pPr marL="0" marR="0" indent="0" algn="ctr">
              <a:spcAft>
                <a:spcPts val="975"/>
              </a:spcAft>
              <a:buNone/>
            </a:pPr>
            <a:r>
              <a:rPr lang="en-IN" sz="1800" b="1" i="0" cap="all" spc="0">
                <a:solidFill>
                  <a:srgbClr val="003E76"/>
                </a:solidFill>
                <a:effectLst/>
                <a:latin typeface="Merriweather Sans" pitchFamily="2" charset="0"/>
              </a:rPr>
              <a:t>Ophthalmology</a:t>
            </a:r>
          </a:p>
          <a:p>
            <a:pPr marL="0" marR="0" indent="0" algn="ctr">
              <a:spcAft>
                <a:spcPts val="2625"/>
              </a:spcAft>
              <a:buNone/>
            </a:pPr>
            <a:r>
              <a:rPr lang="en-IN" sz="1800" b="0" i="0">
                <a:solidFill>
                  <a:srgbClr val="333333"/>
                </a:solidFill>
                <a:effectLst/>
                <a:latin typeface="Merriweather Sans" pitchFamily="2" charset="0"/>
              </a:rPr>
              <a:t>Bringing advanced biologics that protect and preserve vision for patients worldwide</a:t>
            </a:r>
          </a:p>
          <a:p>
            <a:pPr marL="0" marR="0" indent="0" algn="ctr">
              <a:spcAft>
                <a:spcPts val="975"/>
              </a:spcAft>
              <a:buNone/>
            </a:pPr>
            <a:r>
              <a:rPr lang="en-IN" sz="1800" b="1" i="0" cap="all" spc="0">
                <a:solidFill>
                  <a:srgbClr val="003E76"/>
                </a:solidFill>
                <a:effectLst/>
                <a:latin typeface="Merriweather Sans" pitchFamily="2" charset="0"/>
              </a:rPr>
              <a:t>Bone Health</a:t>
            </a:r>
          </a:p>
          <a:p>
            <a:pPr marL="0" marR="0" indent="0" algn="ctr">
              <a:spcAft>
                <a:spcPts val="2625"/>
              </a:spcAft>
              <a:buNone/>
            </a:pPr>
            <a:r>
              <a:rPr lang="en-IN" sz="1800" b="0" i="0">
                <a:solidFill>
                  <a:srgbClr val="333333"/>
                </a:solidFill>
                <a:effectLst/>
                <a:latin typeface="Merriweather Sans" pitchFamily="2" charset="0"/>
              </a:rPr>
              <a:t>Committed to improving bone strength and quality of life through innovative, affordable biologics</a:t>
            </a:r>
          </a:p>
        </p:txBody>
      </p:sp>
    </p:spTree>
    <p:extLst>
      <p:ext uri="{BB962C8B-B14F-4D97-AF65-F5344CB8AC3E}">
        <p14:creationId xmlns:p14="http://schemas.microsoft.com/office/powerpoint/2010/main" val="2604551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4DDEB4-A4E7-4E6F-0EC9-699F6FA01BB1}"/>
              </a:ext>
            </a:extLst>
          </p:cNvPr>
          <p:cNvSpPr txBox="1"/>
          <p:nvPr/>
        </p:nvSpPr>
        <p:spPr>
          <a:xfrm>
            <a:off x="79513" y="166569"/>
            <a:ext cx="7315177" cy="584775"/>
          </a:xfrm>
          <a:prstGeom prst="rect">
            <a:avLst/>
          </a:prstGeom>
          <a:noFill/>
        </p:spPr>
        <p:txBody>
          <a:bodyPr wrap="square" rtlCol="0">
            <a:spAutoFit/>
          </a:bodyPr>
          <a:lstStyle/>
          <a:p>
            <a:r>
              <a:rPr lang="en-US" sz="3200">
                <a:solidFill>
                  <a:srgbClr val="FF0000"/>
                </a:solidFill>
              </a:rPr>
              <a:t>Market impact :</a:t>
            </a:r>
            <a:endParaRPr lang="en-IN" sz="3200">
              <a:solidFill>
                <a:srgbClr val="FF0000"/>
              </a:solidFill>
            </a:endParaRPr>
          </a:p>
        </p:txBody>
      </p:sp>
      <p:sp>
        <p:nvSpPr>
          <p:cNvPr id="4" name="TextBox 3">
            <a:extLst>
              <a:ext uri="{FF2B5EF4-FFF2-40B4-BE49-F238E27FC236}">
                <a16:creationId xmlns:a16="http://schemas.microsoft.com/office/drawing/2014/main" id="{3C487CDE-A551-9BB6-A4F9-8308D6B114A8}"/>
              </a:ext>
            </a:extLst>
          </p:cNvPr>
          <p:cNvSpPr txBox="1"/>
          <p:nvPr/>
        </p:nvSpPr>
        <p:spPr>
          <a:xfrm>
            <a:off x="238539" y="751344"/>
            <a:ext cx="11658600" cy="3477875"/>
          </a:xfrm>
          <a:prstGeom prst="rect">
            <a:avLst/>
          </a:prstGeom>
          <a:noFill/>
        </p:spPr>
        <p:txBody>
          <a:bodyPr wrap="square">
            <a:spAutoFit/>
          </a:bodyPr>
          <a:lstStyle/>
          <a:p>
            <a:pPr algn="just"/>
            <a:r>
              <a:rPr lang="en-IN" sz="2000" b="1">
                <a:effectLst/>
                <a:latin typeface="Google Sans"/>
              </a:rPr>
              <a:t>Biosimilar Dominance:</a:t>
            </a:r>
            <a:r>
              <a:rPr lang="en-IN" sz="2000" b="0">
                <a:effectLst/>
                <a:latin typeface="Google Sans"/>
              </a:rPr>
              <a:t> Biocon Biologics commands a massive commercial footprint across over 100 countries, serving over 6 million patients annually. By securing approvals for interchangeable biosimilars (like Kirsty and </a:t>
            </a:r>
            <a:r>
              <a:rPr lang="en-IN" sz="2000" b="0" err="1">
                <a:effectLst/>
                <a:latin typeface="Google Sans"/>
              </a:rPr>
              <a:t>Yesafili</a:t>
            </a:r>
            <a:r>
              <a:rPr lang="en-IN" sz="2000" b="0">
                <a:effectLst/>
                <a:latin typeface="Google Sans"/>
              </a:rPr>
              <a:t>), the company undercuts expensive originator biologics, reducing public healthcare expenditures.</a:t>
            </a:r>
            <a:r>
              <a:rPr lang="en-IN" sz="2000"/>
              <a:t> [</a:t>
            </a:r>
            <a:r>
              <a:rPr lang="en-IN" sz="2000">
                <a:hlinkClick r:id="rId2"/>
              </a:rPr>
              <a:t>1</a:t>
            </a:r>
            <a:r>
              <a:rPr lang="en-IN" sz="2000"/>
              <a:t>, </a:t>
            </a:r>
            <a:r>
              <a:rPr lang="en-IN" sz="2000">
                <a:hlinkClick r:id="rId3"/>
              </a:rPr>
              <a:t>2</a:t>
            </a:r>
            <a:r>
              <a:rPr lang="en-IN" sz="2000"/>
              <a:t>, </a:t>
            </a:r>
            <a:r>
              <a:rPr lang="en-IN" sz="2000">
                <a:hlinkClick r:id="rId4"/>
              </a:rPr>
              <a:t>3</a:t>
            </a:r>
            <a:r>
              <a:rPr lang="en-IN" sz="2000"/>
              <a:t>, </a:t>
            </a:r>
            <a:r>
              <a:rPr lang="en-IN" sz="2000">
                <a:hlinkClick r:id="rId5"/>
              </a:rPr>
              <a:t>4</a:t>
            </a:r>
            <a:r>
              <a:rPr lang="en-IN" sz="2000"/>
              <a:t>]</a:t>
            </a:r>
            <a:r>
              <a:rPr lang="en-IN" sz="2000" b="1">
                <a:effectLst/>
                <a:latin typeface="Google Sans"/>
              </a:rPr>
              <a:t>Market Reaction to Approvals:</a:t>
            </a:r>
            <a:r>
              <a:rPr lang="en-IN" sz="2000" b="0">
                <a:effectLst/>
                <a:latin typeface="Google Sans"/>
              </a:rPr>
              <a:t> The company's stock consistently reacts to product pipeline milestones. For instance, after securing U.S. FDA approvals for crucial drugs targeting billion-dollar markets, shares typically experience noticeable upward trading pressure.</a:t>
            </a:r>
            <a:r>
              <a:rPr lang="en-IN" sz="2000"/>
              <a:t> [</a:t>
            </a:r>
            <a:r>
              <a:rPr lang="en-IN" sz="2000">
                <a:hlinkClick r:id="rId4"/>
              </a:rPr>
              <a:t>1</a:t>
            </a:r>
            <a:r>
              <a:rPr lang="en-IN" sz="2000"/>
              <a:t>]</a:t>
            </a:r>
            <a:r>
              <a:rPr lang="en-IN" sz="2000" b="1">
                <a:effectLst/>
                <a:latin typeface="Google Sans"/>
              </a:rPr>
              <a:t>Financial Performance:</a:t>
            </a:r>
            <a:r>
              <a:rPr lang="en-IN" sz="2000" b="0">
                <a:effectLst/>
                <a:latin typeface="Google Sans"/>
              </a:rPr>
              <a:t> Recent performance shows robust double-digit operational revenue growth—nearly 13% YoY in core segments—while strategically expanding its EBITDA margins through disciplined cost-cutting and focused debt reduction.</a:t>
            </a:r>
            <a:r>
              <a:rPr lang="en-IN" sz="2000"/>
              <a:t> [</a:t>
            </a:r>
            <a:r>
              <a:rPr lang="en-IN" sz="2000">
                <a:hlinkClick r:id="rId6"/>
              </a:rPr>
              <a:t>1</a:t>
            </a:r>
            <a:r>
              <a:rPr lang="en-IN" sz="2000"/>
              <a:t>, </a:t>
            </a:r>
            <a:r>
              <a:rPr lang="en-IN" sz="2000">
                <a:hlinkClick r:id="rId7"/>
              </a:rPr>
              <a:t>2</a:t>
            </a:r>
            <a:r>
              <a:rPr lang="en-IN" sz="2000"/>
              <a:t>, </a:t>
            </a:r>
            <a:r>
              <a:rPr lang="en-IN" sz="2000">
                <a:hlinkClick r:id="rId8"/>
              </a:rPr>
              <a:t>3</a:t>
            </a:r>
            <a:r>
              <a:rPr lang="en-IN" sz="2000"/>
              <a:t>]</a:t>
            </a:r>
            <a:r>
              <a:rPr lang="en-IN" sz="2000" b="1">
                <a:effectLst/>
                <a:latin typeface="Google Sans"/>
              </a:rPr>
              <a:t>Global Weight Management:</a:t>
            </a:r>
            <a:r>
              <a:rPr lang="en-IN" sz="2000" b="0">
                <a:effectLst/>
                <a:latin typeface="Google Sans"/>
              </a:rPr>
              <a:t> Biocon’s recent FDA and European approvals for generic Liraglutide for diabetes and weight management position it to capture high-value market share in the rapidly expanding anti-obesity and metabolic drug sectors</a:t>
            </a:r>
            <a:r>
              <a:rPr lang="en-IN" sz="1800" b="0">
                <a:effectLst/>
                <a:latin typeface="Google Sans"/>
              </a:rPr>
              <a:t>.</a:t>
            </a:r>
            <a:r>
              <a:rPr lang="en-IN"/>
              <a:t> [</a:t>
            </a:r>
            <a:r>
              <a:rPr lang="en-IN">
                <a:hlinkClick r:id="rId7"/>
              </a:rPr>
              <a:t>1</a:t>
            </a:r>
            <a:r>
              <a:rPr lang="en-IN"/>
              <a:t>]</a:t>
            </a:r>
          </a:p>
        </p:txBody>
      </p:sp>
    </p:spTree>
    <p:extLst>
      <p:ext uri="{BB962C8B-B14F-4D97-AF65-F5344CB8AC3E}">
        <p14:creationId xmlns:p14="http://schemas.microsoft.com/office/powerpoint/2010/main" val="1029422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FD0912-0CBC-1302-DC04-2CDFEADC1D0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6652" y="0"/>
            <a:ext cx="5105245" cy="3289690"/>
          </a:xfrm>
          <a:prstGeom prst="rect">
            <a:avLst/>
          </a:prstGeom>
        </p:spPr>
      </p:pic>
      <p:pic>
        <p:nvPicPr>
          <p:cNvPr id="6" name="Picture 5">
            <a:extLst>
              <a:ext uri="{FF2B5EF4-FFF2-40B4-BE49-F238E27FC236}">
                <a16:creationId xmlns:a16="http://schemas.microsoft.com/office/drawing/2014/main" id="{E9E55731-5BAB-463B-6B43-097BD697404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918146" y="3024025"/>
            <a:ext cx="5392584" cy="3224508"/>
          </a:xfrm>
          <a:prstGeom prst="rect">
            <a:avLst/>
          </a:prstGeom>
        </p:spPr>
      </p:pic>
    </p:spTree>
    <p:extLst>
      <p:ext uri="{BB962C8B-B14F-4D97-AF65-F5344CB8AC3E}">
        <p14:creationId xmlns:p14="http://schemas.microsoft.com/office/powerpoint/2010/main" val="2804671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58A674-4C4B-91BF-F077-C20C7F656C8D}"/>
              </a:ext>
            </a:extLst>
          </p:cNvPr>
          <p:cNvSpPr txBox="1"/>
          <p:nvPr/>
        </p:nvSpPr>
        <p:spPr>
          <a:xfrm>
            <a:off x="139147" y="178905"/>
            <a:ext cx="2653675" cy="584775"/>
          </a:xfrm>
          <a:prstGeom prst="rect">
            <a:avLst/>
          </a:prstGeom>
          <a:noFill/>
        </p:spPr>
        <p:txBody>
          <a:bodyPr wrap="none" rtlCol="0">
            <a:spAutoFit/>
          </a:bodyPr>
          <a:lstStyle/>
          <a:p>
            <a:r>
              <a:rPr lang="en-US" sz="3200">
                <a:solidFill>
                  <a:srgbClr val="FF0000"/>
                </a:solidFill>
              </a:rPr>
              <a:t>   Application :</a:t>
            </a:r>
            <a:endParaRPr lang="en-IN" sz="3200">
              <a:solidFill>
                <a:srgbClr val="FF0000"/>
              </a:solidFill>
            </a:endParaRPr>
          </a:p>
        </p:txBody>
      </p:sp>
      <p:sp>
        <p:nvSpPr>
          <p:cNvPr id="4" name="TextBox 3">
            <a:extLst>
              <a:ext uri="{FF2B5EF4-FFF2-40B4-BE49-F238E27FC236}">
                <a16:creationId xmlns:a16="http://schemas.microsoft.com/office/drawing/2014/main" id="{E4EFEE0E-80E2-8D92-83E2-3A0F045A4BD4}"/>
              </a:ext>
            </a:extLst>
          </p:cNvPr>
          <p:cNvSpPr txBox="1"/>
          <p:nvPr/>
        </p:nvSpPr>
        <p:spPr>
          <a:xfrm>
            <a:off x="437322" y="1083365"/>
            <a:ext cx="10696575" cy="4632037"/>
          </a:xfrm>
          <a:prstGeom prst="rect">
            <a:avLst/>
          </a:prstGeom>
          <a:noFill/>
        </p:spPr>
        <p:txBody>
          <a:bodyPr wrap="square">
            <a:spAutoFit/>
          </a:bodyPr>
          <a:lstStyle/>
          <a:p>
            <a:pPr marL="0" marR="0">
              <a:spcBef>
                <a:spcPts val="1800"/>
              </a:spcBef>
              <a:spcAft>
                <a:spcPts val="900"/>
              </a:spcAft>
              <a:buNone/>
            </a:pPr>
            <a:r>
              <a:rPr lang="en-IN" sz="2000" b="1">
                <a:effectLst/>
                <a:latin typeface="Google Sans"/>
              </a:rPr>
              <a:t>Major Medical Applications</a:t>
            </a:r>
          </a:p>
          <a:p>
            <a:pPr marL="0" marR="0">
              <a:spcBef>
                <a:spcPts val="900"/>
              </a:spcBef>
              <a:spcAft>
                <a:spcPts val="900"/>
              </a:spcAft>
              <a:buFont typeface="Arial" panose="020B0604020202020204" pitchFamily="34" charset="0"/>
              <a:buChar char="•"/>
            </a:pPr>
            <a:r>
              <a:rPr lang="en-IN" sz="2000" b="1">
                <a:effectLst/>
                <a:latin typeface="Google Sans"/>
              </a:rPr>
              <a:t>Diabetes Management</a:t>
            </a:r>
            <a:r>
              <a:rPr lang="en-IN" sz="2000" b="0">
                <a:effectLst/>
                <a:latin typeface="Google Sans"/>
              </a:rPr>
              <a:t>: Biocon is a top global producer of affordable insulins, including rh-Insulin, Insulin Glargine, and Insulin Aspart [1]. [</a:t>
            </a:r>
            <a:r>
              <a:rPr lang="en-IN" sz="2000" b="0">
                <a:effectLst/>
                <a:latin typeface="Google Sans"/>
                <a:hlinkClick r:id="rId2"/>
              </a:rPr>
              <a:t>1</a:t>
            </a:r>
            <a:r>
              <a:rPr lang="en-IN" sz="2000" b="0">
                <a:effectLst/>
                <a:latin typeface="Google Sans"/>
              </a:rPr>
              <a:t>, </a:t>
            </a:r>
            <a:r>
              <a:rPr lang="en-IN" sz="2000" b="0">
                <a:effectLst/>
                <a:latin typeface="Google Sans"/>
                <a:hlinkClick r:id="rId3"/>
              </a:rPr>
              <a:t>2</a:t>
            </a:r>
            <a:r>
              <a:rPr lang="en-IN" sz="2000" b="0">
                <a:effectLst/>
                <a:latin typeface="Google Sans"/>
              </a:rPr>
              <a:t>, </a:t>
            </a:r>
            <a:r>
              <a:rPr lang="en-IN" sz="2000" b="0">
                <a:effectLst/>
                <a:latin typeface="Google Sans"/>
                <a:hlinkClick r:id="rId4"/>
              </a:rPr>
              <a:t>3</a:t>
            </a:r>
            <a:r>
              <a:rPr lang="en-IN" sz="2000" b="0">
                <a:effectLst/>
                <a:latin typeface="Google Sans"/>
              </a:rPr>
              <a:t>, </a:t>
            </a:r>
            <a:r>
              <a:rPr lang="en-IN" sz="2000" b="0">
                <a:effectLst/>
                <a:latin typeface="Google Sans"/>
                <a:hlinkClick r:id="rId5"/>
              </a:rPr>
              <a:t>4</a:t>
            </a:r>
            <a:r>
              <a:rPr lang="en-IN" sz="2000" b="0">
                <a:effectLst/>
                <a:latin typeface="Google Sans"/>
              </a:rPr>
              <a:t>]</a:t>
            </a:r>
          </a:p>
          <a:p>
            <a:pPr marL="0" marR="0">
              <a:spcBef>
                <a:spcPts val="900"/>
              </a:spcBef>
              <a:spcAft>
                <a:spcPts val="900"/>
              </a:spcAft>
              <a:buFont typeface="Arial" panose="020B0604020202020204" pitchFamily="34" charset="0"/>
              <a:buChar char="•"/>
            </a:pPr>
            <a:r>
              <a:rPr lang="en-IN" sz="2000" b="1">
                <a:effectLst/>
                <a:latin typeface="Google Sans"/>
              </a:rPr>
              <a:t>Cancer Therapy (Oncology)</a:t>
            </a:r>
            <a:r>
              <a:rPr lang="en-IN" sz="2000" b="0">
                <a:effectLst/>
                <a:latin typeface="Google Sans"/>
              </a:rPr>
              <a:t>: The company manufactures vital biosimilars like Trastuzumab (for breast cancer) and Bevacizumab (for colorectal and lung cancers). [</a:t>
            </a:r>
            <a:r>
              <a:rPr lang="en-IN" sz="2000" b="0">
                <a:effectLst/>
                <a:latin typeface="Google Sans"/>
                <a:hlinkClick r:id="rId6"/>
              </a:rPr>
              <a:t>1</a:t>
            </a:r>
            <a:r>
              <a:rPr lang="en-IN" sz="2000" b="0">
                <a:effectLst/>
                <a:latin typeface="Google Sans"/>
              </a:rPr>
              <a:t>, </a:t>
            </a:r>
            <a:r>
              <a:rPr lang="en-IN" sz="2000" b="0">
                <a:effectLst/>
                <a:latin typeface="Google Sans"/>
                <a:hlinkClick r:id="rId7"/>
              </a:rPr>
              <a:t>2</a:t>
            </a:r>
            <a:r>
              <a:rPr lang="en-IN" sz="2000" b="0">
                <a:effectLst/>
                <a:latin typeface="Google Sans"/>
              </a:rPr>
              <a:t>, </a:t>
            </a:r>
            <a:r>
              <a:rPr lang="en-IN" sz="2000" b="0">
                <a:effectLst/>
                <a:latin typeface="Google Sans"/>
                <a:hlinkClick r:id="rId8"/>
              </a:rPr>
              <a:t>3</a:t>
            </a:r>
            <a:r>
              <a:rPr lang="en-IN" sz="2000" b="0">
                <a:effectLst/>
                <a:latin typeface="Google Sans"/>
              </a:rPr>
              <a:t>, </a:t>
            </a:r>
            <a:r>
              <a:rPr lang="en-IN" sz="2000" b="0">
                <a:effectLst/>
                <a:latin typeface="Google Sans"/>
                <a:hlinkClick r:id="rId9"/>
              </a:rPr>
              <a:t>4</a:t>
            </a:r>
            <a:r>
              <a:rPr lang="en-IN" sz="2000" b="0">
                <a:effectLst/>
                <a:latin typeface="Google Sans"/>
              </a:rPr>
              <a:t>]</a:t>
            </a:r>
          </a:p>
          <a:p>
            <a:pPr marL="0" marR="0">
              <a:spcBef>
                <a:spcPts val="900"/>
              </a:spcBef>
              <a:spcAft>
                <a:spcPts val="900"/>
              </a:spcAft>
              <a:buFont typeface="Arial" panose="020B0604020202020204" pitchFamily="34" charset="0"/>
              <a:buChar char="•"/>
            </a:pPr>
            <a:r>
              <a:rPr lang="en-IN" sz="2000" b="1">
                <a:effectLst/>
                <a:latin typeface="Google Sans"/>
              </a:rPr>
              <a:t>Autoimmune Diseases (Immunology)</a:t>
            </a:r>
            <a:r>
              <a:rPr lang="en-IN" sz="2000" b="0">
                <a:effectLst/>
                <a:latin typeface="Google Sans"/>
              </a:rPr>
              <a:t>: Biocon develops novel biologics like </a:t>
            </a:r>
            <a:r>
              <a:rPr lang="en-IN" sz="2000" b="0" err="1">
                <a:effectLst/>
                <a:latin typeface="Google Sans"/>
              </a:rPr>
              <a:t>Itolizumab</a:t>
            </a:r>
            <a:r>
              <a:rPr lang="en-IN" sz="2000" b="0">
                <a:effectLst/>
                <a:latin typeface="Google Sans"/>
              </a:rPr>
              <a:t> to treat severe plaque psoriasis and inflammatory conditions. [</a:t>
            </a:r>
            <a:r>
              <a:rPr lang="en-IN" sz="2000" b="0">
                <a:effectLst/>
                <a:latin typeface="Google Sans"/>
                <a:hlinkClick r:id="rId10"/>
              </a:rPr>
              <a:t>1</a:t>
            </a:r>
            <a:r>
              <a:rPr lang="en-IN" sz="2000" b="0">
                <a:effectLst/>
                <a:latin typeface="Google Sans"/>
              </a:rPr>
              <a:t>, </a:t>
            </a:r>
            <a:r>
              <a:rPr lang="en-IN" sz="2000" b="0">
                <a:effectLst/>
                <a:latin typeface="Google Sans"/>
                <a:hlinkClick r:id="rId11"/>
              </a:rPr>
              <a:t>2</a:t>
            </a:r>
            <a:r>
              <a:rPr lang="en-IN" sz="2000" b="0">
                <a:effectLst/>
                <a:latin typeface="Google Sans"/>
              </a:rPr>
              <a:t>, </a:t>
            </a:r>
            <a:r>
              <a:rPr lang="en-IN" sz="2000" b="0">
                <a:effectLst/>
                <a:latin typeface="Google Sans"/>
                <a:hlinkClick r:id="rId12"/>
              </a:rPr>
              <a:t>3</a:t>
            </a:r>
            <a:r>
              <a:rPr lang="en-IN" sz="2000" b="0">
                <a:effectLst/>
                <a:latin typeface="Google Sans"/>
              </a:rPr>
              <a:t>, </a:t>
            </a:r>
            <a:r>
              <a:rPr lang="en-IN" sz="2000" b="0">
                <a:effectLst/>
                <a:latin typeface="Google Sans"/>
                <a:hlinkClick r:id="rId13"/>
              </a:rPr>
              <a:t>4</a:t>
            </a:r>
            <a:r>
              <a:rPr lang="en-IN" sz="2000" b="0">
                <a:effectLst/>
                <a:latin typeface="Google Sans"/>
              </a:rPr>
              <a:t>, </a:t>
            </a:r>
            <a:r>
              <a:rPr lang="en-IN" sz="2000" b="0">
                <a:effectLst/>
                <a:latin typeface="Google Sans"/>
                <a:hlinkClick r:id="rId14"/>
              </a:rPr>
              <a:t>5</a:t>
            </a:r>
            <a:r>
              <a:rPr lang="en-IN" sz="2000" b="0">
                <a:effectLst/>
                <a:latin typeface="Google Sans"/>
              </a:rPr>
              <a:t>]</a:t>
            </a:r>
          </a:p>
          <a:p>
            <a:pPr marL="0" marR="0">
              <a:spcBef>
                <a:spcPts val="900"/>
              </a:spcBef>
              <a:spcAft>
                <a:spcPts val="900"/>
              </a:spcAft>
              <a:buFont typeface="Arial" panose="020B0604020202020204" pitchFamily="34" charset="0"/>
              <a:buChar char="•"/>
            </a:pPr>
            <a:r>
              <a:rPr lang="en-IN" sz="2000" b="1">
                <a:effectLst/>
                <a:latin typeface="Google Sans"/>
              </a:rPr>
              <a:t>Organ Transplants</a:t>
            </a:r>
            <a:r>
              <a:rPr lang="en-IN" sz="2000" b="0">
                <a:effectLst/>
                <a:latin typeface="Google Sans"/>
              </a:rPr>
              <a:t>: It produces high-quality immunosuppressants (like Tacrolimus and Cyclosporine) to prevent organ rejection in transplant patients. [</a:t>
            </a:r>
            <a:r>
              <a:rPr lang="en-IN" sz="2000" b="0">
                <a:effectLst/>
                <a:latin typeface="Google Sans"/>
                <a:hlinkClick r:id="rId15"/>
              </a:rPr>
              <a:t>1</a:t>
            </a:r>
            <a:r>
              <a:rPr lang="en-IN" sz="2000" b="0">
                <a:effectLst/>
                <a:latin typeface="Google Sans"/>
              </a:rPr>
              <a:t>, </a:t>
            </a:r>
            <a:r>
              <a:rPr lang="en-IN" sz="2000" b="0">
                <a:effectLst/>
                <a:latin typeface="Google Sans"/>
                <a:hlinkClick r:id="rId16"/>
              </a:rPr>
              <a:t>2</a:t>
            </a:r>
            <a:r>
              <a:rPr lang="en-IN" sz="2000" b="0">
                <a:effectLst/>
                <a:latin typeface="Google Sans"/>
              </a:rPr>
              <a:t>]</a:t>
            </a:r>
          </a:p>
          <a:p>
            <a:pPr marL="0" marR="0">
              <a:spcBef>
                <a:spcPts val="900"/>
              </a:spcBef>
              <a:spcAft>
                <a:spcPts val="900"/>
              </a:spcAft>
              <a:buFont typeface="Arial" panose="020B0604020202020204" pitchFamily="34" charset="0"/>
              <a:buChar char="•"/>
            </a:pPr>
            <a:r>
              <a:rPr lang="en-IN" sz="2000" b="1">
                <a:effectLst/>
                <a:latin typeface="Google Sans"/>
              </a:rPr>
              <a:t>Cardiovascular Health</a:t>
            </a:r>
            <a:r>
              <a:rPr lang="en-IN" sz="2000" b="0">
                <a:effectLst/>
                <a:latin typeface="Google Sans"/>
              </a:rPr>
              <a:t>: The company manufactures generic statins (such as Atorvastatin and Simvastatin) to help manage cholesterol levels. [</a:t>
            </a:r>
            <a:r>
              <a:rPr lang="en-IN" sz="2000" b="0">
                <a:effectLst/>
                <a:latin typeface="Google Sans"/>
                <a:hlinkClick r:id="rId17"/>
              </a:rPr>
              <a:t>1</a:t>
            </a:r>
            <a:r>
              <a:rPr lang="en-IN" sz="2000" b="0">
                <a:effectLst/>
                <a:latin typeface="Google Sans"/>
              </a:rPr>
              <a:t>, </a:t>
            </a:r>
            <a:r>
              <a:rPr lang="en-IN" sz="2000" b="0">
                <a:effectLst/>
                <a:latin typeface="Google Sans"/>
                <a:hlinkClick r:id="rId18"/>
              </a:rPr>
              <a:t>2</a:t>
            </a:r>
            <a:r>
              <a:rPr lang="en-IN" sz="2000" b="0">
                <a:effectLst/>
                <a:latin typeface="Google Sans"/>
              </a:rPr>
              <a:t>]</a:t>
            </a:r>
          </a:p>
        </p:txBody>
      </p:sp>
    </p:spTree>
    <p:extLst>
      <p:ext uri="{BB962C8B-B14F-4D97-AF65-F5344CB8AC3E}">
        <p14:creationId xmlns:p14="http://schemas.microsoft.com/office/powerpoint/2010/main" val="113322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E2600C-0C68-0388-A9D5-55EB7B2430B9}"/>
              </a:ext>
            </a:extLst>
          </p:cNvPr>
          <p:cNvSpPr txBox="1"/>
          <p:nvPr/>
        </p:nvSpPr>
        <p:spPr>
          <a:xfrm>
            <a:off x="109331" y="208722"/>
            <a:ext cx="9799982" cy="584775"/>
          </a:xfrm>
          <a:prstGeom prst="rect">
            <a:avLst/>
          </a:prstGeom>
          <a:noFill/>
        </p:spPr>
        <p:txBody>
          <a:bodyPr wrap="square" rtlCol="0">
            <a:spAutoFit/>
          </a:bodyPr>
          <a:lstStyle/>
          <a:p>
            <a:r>
              <a:rPr lang="en-US" sz="3200">
                <a:solidFill>
                  <a:srgbClr val="FF0000"/>
                </a:solidFill>
              </a:rPr>
              <a:t>Methods to manufacturing :</a:t>
            </a:r>
            <a:endParaRPr lang="en-IN" sz="3200">
              <a:solidFill>
                <a:srgbClr val="FF0000"/>
              </a:solidFill>
            </a:endParaRPr>
          </a:p>
        </p:txBody>
      </p:sp>
      <p:sp>
        <p:nvSpPr>
          <p:cNvPr id="7" name="TextBox 6">
            <a:extLst>
              <a:ext uri="{FF2B5EF4-FFF2-40B4-BE49-F238E27FC236}">
                <a16:creationId xmlns:a16="http://schemas.microsoft.com/office/drawing/2014/main" id="{824265B4-46CB-3072-FFFA-394E32B44F39}"/>
              </a:ext>
            </a:extLst>
          </p:cNvPr>
          <p:cNvSpPr txBox="1"/>
          <p:nvPr/>
        </p:nvSpPr>
        <p:spPr>
          <a:xfrm>
            <a:off x="1093304" y="1321904"/>
            <a:ext cx="8040756" cy="4426853"/>
          </a:xfrm>
          <a:prstGeom prst="rect">
            <a:avLst/>
          </a:prstGeom>
          <a:noFill/>
        </p:spPr>
        <p:txBody>
          <a:bodyPr wrap="square">
            <a:spAutoFit/>
          </a:bodyPr>
          <a:lstStyle/>
          <a:p>
            <a:pPr marL="0" marR="0" rtl="0">
              <a:spcBef>
                <a:spcPts val="1050"/>
              </a:spcBef>
              <a:spcAft>
                <a:spcPts val="1050"/>
              </a:spcAft>
              <a:buNone/>
            </a:pPr>
            <a:r>
              <a:rPr lang="en-IN" sz="1050" b="0">
                <a:effectLst/>
                <a:latin typeface="Courier New" panose="02070309020205020404" pitchFamily="49" charset="0"/>
              </a:rPr>
              <a:t>[</a:t>
            </a:r>
            <a:r>
              <a:rPr lang="en-IN" sz="2000" b="0">
                <a:effectLst/>
                <a:latin typeface="Courier New" panose="02070309020205020404" pitchFamily="49" charset="0"/>
              </a:rPr>
              <a:t>Upstream Expression] ➔ [Fermentation &amp; Synthesis] ➔ [Downstream Purification] ➔ [Aseptic Fill-Finish]</a:t>
            </a:r>
          </a:p>
          <a:p>
            <a:pPr marL="0" marR="0">
              <a:spcBef>
                <a:spcPts val="900"/>
              </a:spcBef>
              <a:spcAft>
                <a:spcPts val="900"/>
              </a:spcAft>
              <a:buFont typeface="Arial" panose="020B0604020202020204" pitchFamily="34" charset="0"/>
              <a:buChar char="•"/>
            </a:pPr>
            <a:r>
              <a:rPr lang="en-IN" sz="2000" b="1">
                <a:effectLst/>
                <a:latin typeface="Google Sans"/>
              </a:rPr>
              <a:t>Upstream Expression</a:t>
            </a:r>
            <a:r>
              <a:rPr lang="en-IN" sz="2000" b="0">
                <a:effectLst/>
                <a:latin typeface="Google Sans"/>
              </a:rPr>
              <a:t>: Genetically engineers </a:t>
            </a:r>
            <a:r>
              <a:rPr lang="en-IN" sz="2000" b="1">
                <a:effectLst/>
                <a:latin typeface="Google Sans"/>
              </a:rPr>
              <a:t>yeast</a:t>
            </a:r>
            <a:r>
              <a:rPr lang="en-IN" sz="2000" b="0">
                <a:effectLst/>
                <a:latin typeface="Google Sans"/>
              </a:rPr>
              <a:t> (</a:t>
            </a:r>
            <a:r>
              <a:rPr lang="en-IN" sz="2000" b="0" i="1">
                <a:effectLst/>
                <a:latin typeface="Google Sans"/>
              </a:rPr>
              <a:t>Pichia pastoris</a:t>
            </a:r>
            <a:r>
              <a:rPr lang="en-IN" sz="2000" b="0">
                <a:effectLst/>
                <a:latin typeface="Google Sans"/>
              </a:rPr>
              <a:t>) or </a:t>
            </a:r>
            <a:r>
              <a:rPr lang="en-IN" sz="2000" b="1">
                <a:effectLst/>
                <a:latin typeface="Google Sans"/>
              </a:rPr>
              <a:t>mammalian</a:t>
            </a:r>
            <a:r>
              <a:rPr lang="en-IN" sz="2000" b="0">
                <a:effectLst/>
                <a:latin typeface="Google Sans"/>
              </a:rPr>
              <a:t> cells (CHO) to serve as target molecule factories.</a:t>
            </a:r>
          </a:p>
          <a:p>
            <a:pPr marL="0" marR="0">
              <a:spcBef>
                <a:spcPts val="900"/>
              </a:spcBef>
              <a:spcAft>
                <a:spcPts val="900"/>
              </a:spcAft>
              <a:buFont typeface="Arial" panose="020B0604020202020204" pitchFamily="34" charset="0"/>
              <a:buChar char="•"/>
            </a:pPr>
            <a:r>
              <a:rPr lang="en-IN" sz="2000" b="1">
                <a:effectLst/>
                <a:latin typeface="Google Sans"/>
              </a:rPr>
              <a:t>Fermentation &amp; Synthesis</a:t>
            </a:r>
            <a:r>
              <a:rPr lang="en-IN" sz="2000" b="0">
                <a:effectLst/>
                <a:latin typeface="Google Sans"/>
              </a:rPr>
              <a:t>: Cultivates cells in massive automated </a:t>
            </a:r>
            <a:r>
              <a:rPr lang="en-IN" sz="2000" b="1">
                <a:effectLst/>
                <a:latin typeface="Google Sans"/>
              </a:rPr>
              <a:t>bioreactors</a:t>
            </a:r>
            <a:r>
              <a:rPr lang="en-IN" sz="2000" b="0">
                <a:effectLst/>
                <a:latin typeface="Google Sans"/>
              </a:rPr>
              <a:t> (or hybrid chemical rigs) to grow the raw therapeutic substance.</a:t>
            </a:r>
          </a:p>
          <a:p>
            <a:pPr marL="0" marR="0">
              <a:spcBef>
                <a:spcPts val="900"/>
              </a:spcBef>
              <a:spcAft>
                <a:spcPts val="900"/>
              </a:spcAft>
              <a:buFont typeface="Arial" panose="020B0604020202020204" pitchFamily="34" charset="0"/>
              <a:buChar char="•"/>
            </a:pPr>
            <a:r>
              <a:rPr lang="en-IN" sz="2000" b="1">
                <a:effectLst/>
                <a:latin typeface="Google Sans"/>
              </a:rPr>
              <a:t>Downstream Purification</a:t>
            </a:r>
            <a:r>
              <a:rPr lang="en-IN" sz="2000" b="0">
                <a:effectLst/>
                <a:latin typeface="Google Sans"/>
              </a:rPr>
              <a:t>: Isolates and strips out impurities using precision target-specific </a:t>
            </a:r>
            <a:r>
              <a:rPr lang="en-IN" sz="2000" b="1">
                <a:effectLst/>
                <a:latin typeface="Google Sans"/>
              </a:rPr>
              <a:t>chromatography</a:t>
            </a:r>
            <a:r>
              <a:rPr lang="en-IN" sz="2000" b="0">
                <a:effectLst/>
                <a:latin typeface="Google Sans"/>
              </a:rPr>
              <a:t> and multi-stage fine </a:t>
            </a:r>
            <a:r>
              <a:rPr lang="en-IN" sz="2000" b="1">
                <a:effectLst/>
                <a:latin typeface="Google Sans"/>
              </a:rPr>
              <a:t>filtration</a:t>
            </a:r>
            <a:r>
              <a:rPr lang="en-IN" sz="2000" b="0">
                <a:effectLst/>
                <a:latin typeface="Google Sans"/>
              </a:rPr>
              <a:t>. [</a:t>
            </a:r>
            <a:r>
              <a:rPr lang="en-IN" sz="2000" b="0">
                <a:effectLst/>
                <a:latin typeface="Google Sans"/>
                <a:hlinkClick r:id="rId2"/>
              </a:rPr>
              <a:t>1</a:t>
            </a:r>
            <a:r>
              <a:rPr lang="en-IN" sz="2000" b="0">
                <a:effectLst/>
                <a:latin typeface="Google Sans"/>
              </a:rPr>
              <a:t>]</a:t>
            </a:r>
          </a:p>
          <a:p>
            <a:pPr marL="0" marR="0">
              <a:spcBef>
                <a:spcPts val="900"/>
              </a:spcBef>
              <a:spcAft>
                <a:spcPts val="900"/>
              </a:spcAft>
              <a:buFont typeface="Arial" panose="020B0604020202020204" pitchFamily="34" charset="0"/>
              <a:buChar char="•"/>
            </a:pPr>
            <a:r>
              <a:rPr lang="en-IN" sz="2000" b="1">
                <a:effectLst/>
                <a:latin typeface="Google Sans"/>
              </a:rPr>
              <a:t>Aseptic Fill-Finish</a:t>
            </a:r>
            <a:r>
              <a:rPr lang="en-IN" sz="2000" b="0">
                <a:effectLst/>
                <a:latin typeface="Google Sans"/>
              </a:rPr>
              <a:t>: Formulates the pure medicine inside sterile </a:t>
            </a:r>
            <a:r>
              <a:rPr lang="en-IN" sz="2000" b="1">
                <a:effectLst/>
                <a:latin typeface="Google Sans"/>
              </a:rPr>
              <a:t>Grade A cleanrooms</a:t>
            </a:r>
            <a:r>
              <a:rPr lang="en-IN" sz="2000" b="0">
                <a:effectLst/>
                <a:latin typeface="Google Sans"/>
              </a:rPr>
              <a:t> directly into final pens, syringes, or </a:t>
            </a:r>
            <a:r>
              <a:rPr lang="en-IN" sz="2000" b="0" err="1">
                <a:effectLst/>
                <a:latin typeface="Google Sans"/>
              </a:rPr>
              <a:t>vials.m</a:t>
            </a:r>
            <a:endParaRPr lang="en-IN" sz="2000" b="0">
              <a:effectLst/>
              <a:latin typeface="Google Sans"/>
            </a:endParaRPr>
          </a:p>
        </p:txBody>
      </p:sp>
    </p:spTree>
    <p:extLst>
      <p:ext uri="{BB962C8B-B14F-4D97-AF65-F5344CB8AC3E}">
        <p14:creationId xmlns:p14="http://schemas.microsoft.com/office/powerpoint/2010/main" val="1394742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32576D-1B4B-8B91-4B0C-43034DCAC00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21761" y="538369"/>
            <a:ext cx="10335622" cy="5781261"/>
          </a:xfrm>
          <a:prstGeom prst="rect">
            <a:avLst/>
          </a:prstGeom>
        </p:spPr>
      </p:pic>
    </p:spTree>
    <p:extLst>
      <p:ext uri="{BB962C8B-B14F-4D97-AF65-F5344CB8AC3E}">
        <p14:creationId xmlns:p14="http://schemas.microsoft.com/office/powerpoint/2010/main" val="1094663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 M</dc:creator>
  <cp:lastModifiedBy>Raja.R R</cp:lastModifiedBy>
  <cp:revision>1</cp:revision>
  <dcterms:created xsi:type="dcterms:W3CDTF">2026-07-12T07:13:21Z</dcterms:created>
  <dcterms:modified xsi:type="dcterms:W3CDTF">2026-07-12T13:55:26Z</dcterms:modified>
</cp:coreProperties>
</file>